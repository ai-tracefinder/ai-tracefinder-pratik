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6858000" cy="9144000"/>
  <p:embeddedFontLst>
    <p:embeddedFont>
      <p:font typeface="Arimo" panose="020B0604020202020204" charset="0"/>
      <p:regular r:id="rId19"/>
    </p:embeddedFont>
    <p:embeddedFont>
      <p:font typeface="Arimo Bold" panose="020B0604020202020204" charset="0"/>
      <p:regular r:id="rId20"/>
    </p:embeddedFont>
    <p:embeddedFont>
      <p:font typeface="Fraunces" panose="020B0604020202020204" charset="0"/>
      <p:regular r:id="rId21"/>
    </p:embeddedFont>
    <p:embeddedFont>
      <p:font typeface="Fraunces Bold"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6" d="100"/>
          <a:sy n="56" d="100"/>
        </p:scale>
        <p:origin x="61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22.01.2026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sv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sv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 Id="rId9" Type="http://schemas.openxmlformats.org/officeDocument/2006/relationships/image" Target="../media/image21.svg"/></Relationships>
</file>

<file path=ppt/slides/_rels/slide13.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sv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25.png"/><Relationship Id="rId11" Type="http://schemas.openxmlformats.org/officeDocument/2006/relationships/image" Target="../media/image30.svg"/><Relationship Id="rId5" Type="http://schemas.openxmlformats.org/officeDocument/2006/relationships/image" Target="../media/image24.sv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svg"/></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A8AFCC"/>
            </a:solidFill>
            <a:ln w="12700">
              <a:solidFill>
                <a:srgbClr val="000000"/>
              </a:solidFill>
            </a:ln>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80E26"/>
            </a:solidFill>
            <a:ln w="12700">
              <a:solidFill>
                <a:srgbClr val="000000"/>
              </a:solidFill>
            </a:ln>
          </p:spPr>
        </p:sp>
      </p:grpSp>
      <p:sp>
        <p:nvSpPr>
          <p:cNvPr id="6" name="Freeform 6" descr="preencoded.png"/>
          <p:cNvSpPr/>
          <p:nvPr/>
        </p:nvSpPr>
        <p:spPr>
          <a:xfrm>
            <a:off x="0" y="0"/>
            <a:ext cx="6858000" cy="10287000"/>
          </a:xfrm>
          <a:custGeom>
            <a:avLst/>
            <a:gdLst/>
            <a:ahLst/>
            <a:cxnLst/>
            <a:rect l="l" t="t" r="r" b="b"/>
            <a:pathLst>
              <a:path w="6858000" h="10287000">
                <a:moveTo>
                  <a:pt x="0" y="0"/>
                </a:moveTo>
                <a:lnTo>
                  <a:pt x="6858000" y="0"/>
                </a:lnTo>
                <a:lnTo>
                  <a:pt x="6858000" y="10287000"/>
                </a:lnTo>
                <a:lnTo>
                  <a:pt x="0" y="10287000"/>
                </a:lnTo>
                <a:lnTo>
                  <a:pt x="0" y="0"/>
                </a:lnTo>
                <a:close/>
              </a:path>
            </a:pathLst>
          </a:custGeom>
          <a:blipFill>
            <a:blip r:embed="rId3"/>
            <a:stretch>
              <a:fillRect/>
            </a:stretch>
          </a:blipFill>
        </p:spPr>
      </p:sp>
      <p:sp>
        <p:nvSpPr>
          <p:cNvPr id="7" name="TextBox 7"/>
          <p:cNvSpPr txBox="1"/>
          <p:nvPr/>
        </p:nvSpPr>
        <p:spPr>
          <a:xfrm>
            <a:off x="7850238" y="2945016"/>
            <a:ext cx="9445523" cy="2676973"/>
          </a:xfrm>
          <a:prstGeom prst="rect">
            <a:avLst/>
          </a:prstGeom>
        </p:spPr>
        <p:txBody>
          <a:bodyPr lIns="0" tIns="0" rIns="0" bIns="0" rtlCol="0" anchor="t">
            <a:spAutoFit/>
          </a:bodyPr>
          <a:lstStyle/>
          <a:p>
            <a:pPr algn="l">
              <a:lnSpc>
                <a:spcPts val="6937"/>
              </a:lnSpc>
            </a:pPr>
            <a:r>
              <a:rPr lang="en-US" sz="5562">
                <a:solidFill>
                  <a:srgbClr val="FFFFFF"/>
                </a:solidFill>
                <a:latin typeface="Fraunces"/>
                <a:ea typeface="Fraunces"/>
                <a:cs typeface="Fraunces"/>
                <a:sym typeface="Fraunces"/>
              </a:rPr>
              <a:t>Scanner Device Identification Using Document Images</a:t>
            </a:r>
          </a:p>
        </p:txBody>
      </p:sp>
      <p:sp>
        <p:nvSpPr>
          <p:cNvPr id="8" name="TextBox 8"/>
          <p:cNvSpPr txBox="1"/>
          <p:nvPr/>
        </p:nvSpPr>
        <p:spPr>
          <a:xfrm>
            <a:off x="7850238" y="5716343"/>
            <a:ext cx="8900522" cy="727767"/>
          </a:xfrm>
          <a:prstGeom prst="rect">
            <a:avLst/>
          </a:prstGeom>
        </p:spPr>
        <p:txBody>
          <a:bodyPr lIns="0" tIns="0" rIns="0" bIns="0" rtlCol="0" anchor="t">
            <a:spAutoFit/>
          </a:bodyPr>
          <a:lstStyle/>
          <a:p>
            <a:pPr algn="l">
              <a:lnSpc>
                <a:spcPts val="5562"/>
              </a:lnSpc>
            </a:pPr>
            <a:r>
              <a:rPr lang="en-US" sz="4437">
                <a:solidFill>
                  <a:srgbClr val="FFFFFF"/>
                </a:solidFill>
                <a:latin typeface="Fraunces"/>
                <a:ea typeface="Fraunces"/>
                <a:cs typeface="Fraunces"/>
                <a:sym typeface="Fraunces"/>
              </a:rPr>
              <a:t>AITracker – Project Presentation</a:t>
            </a:r>
          </a:p>
        </p:txBody>
      </p:sp>
      <p:sp>
        <p:nvSpPr>
          <p:cNvPr id="9" name="TextBox 9"/>
          <p:cNvSpPr txBox="1"/>
          <p:nvPr/>
        </p:nvSpPr>
        <p:spPr>
          <a:xfrm>
            <a:off x="7850238" y="6764541"/>
            <a:ext cx="9445523" cy="558403"/>
          </a:xfrm>
          <a:prstGeom prst="rect">
            <a:avLst/>
          </a:prstGeom>
        </p:spPr>
        <p:txBody>
          <a:bodyPr lIns="0" tIns="0" rIns="0" bIns="0" rtlCol="0" anchor="t">
            <a:spAutoFit/>
          </a:bodyPr>
          <a:lstStyle/>
          <a:p>
            <a:pPr algn="l">
              <a:lnSpc>
                <a:spcPts val="3562"/>
              </a:lnSpc>
            </a:pPr>
            <a:r>
              <a:rPr lang="en-US" sz="2187" b="1">
                <a:solidFill>
                  <a:srgbClr val="EBECEF"/>
                </a:solidFill>
                <a:latin typeface="Arimo Bold"/>
                <a:ea typeface="Arimo Bold"/>
                <a:cs typeface="Arimo Bold"/>
                <a:sym typeface="Arimo Bold"/>
              </a:rPr>
              <a:t>Pratik Ekashinge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A8AFCC"/>
            </a:solidFill>
            <a:ln w="12700">
              <a:solidFill>
                <a:srgbClr val="000000"/>
              </a:solidFill>
            </a:ln>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80E26"/>
            </a:solidFill>
            <a:ln w="12700">
              <a:solidFill>
                <a:srgbClr val="000000"/>
              </a:solidFill>
            </a:ln>
          </p:spPr>
        </p:sp>
      </p:grpSp>
      <p:sp>
        <p:nvSpPr>
          <p:cNvPr id="6" name="Freeform 6" descr="preencoded.png"/>
          <p:cNvSpPr/>
          <p:nvPr/>
        </p:nvSpPr>
        <p:spPr>
          <a:xfrm>
            <a:off x="0" y="0"/>
            <a:ext cx="18288000" cy="3544043"/>
          </a:xfrm>
          <a:custGeom>
            <a:avLst/>
            <a:gdLst/>
            <a:ahLst/>
            <a:cxnLst/>
            <a:rect l="l" t="t" r="r" b="b"/>
            <a:pathLst>
              <a:path w="18288000" h="3544043">
                <a:moveTo>
                  <a:pt x="0" y="0"/>
                </a:moveTo>
                <a:lnTo>
                  <a:pt x="18288000" y="0"/>
                </a:lnTo>
                <a:lnTo>
                  <a:pt x="18288000" y="3544043"/>
                </a:lnTo>
                <a:lnTo>
                  <a:pt x="0" y="3544043"/>
                </a:lnTo>
                <a:lnTo>
                  <a:pt x="0" y="0"/>
                </a:lnTo>
                <a:close/>
              </a:path>
            </a:pathLst>
          </a:custGeom>
          <a:blipFill>
            <a:blip r:embed="rId3"/>
            <a:stretch>
              <a:fillRect l="-10" r="-10"/>
            </a:stretch>
          </a:blipFill>
        </p:spPr>
      </p:sp>
      <p:sp>
        <p:nvSpPr>
          <p:cNvPr id="7" name="TextBox 7"/>
          <p:cNvSpPr txBox="1"/>
          <p:nvPr/>
        </p:nvSpPr>
        <p:spPr>
          <a:xfrm>
            <a:off x="992238" y="5035896"/>
            <a:ext cx="9239993" cy="727767"/>
          </a:xfrm>
          <a:prstGeom prst="rect">
            <a:avLst/>
          </a:prstGeom>
        </p:spPr>
        <p:txBody>
          <a:bodyPr lIns="0" tIns="0" rIns="0" bIns="0" rtlCol="0" anchor="t">
            <a:spAutoFit/>
          </a:bodyPr>
          <a:lstStyle/>
          <a:p>
            <a:pPr algn="l">
              <a:lnSpc>
                <a:spcPts val="5562"/>
              </a:lnSpc>
            </a:pPr>
            <a:r>
              <a:rPr lang="en-US" sz="4437">
                <a:solidFill>
                  <a:srgbClr val="FFFFFF"/>
                </a:solidFill>
                <a:latin typeface="Fraunces"/>
                <a:ea typeface="Fraunces"/>
                <a:cs typeface="Fraunces"/>
                <a:sym typeface="Fraunces"/>
              </a:rPr>
              <a:t>Background &amp; Problem Statement</a:t>
            </a:r>
          </a:p>
        </p:txBody>
      </p:sp>
      <p:sp>
        <p:nvSpPr>
          <p:cNvPr id="8" name="TextBox 8"/>
          <p:cNvSpPr txBox="1"/>
          <p:nvPr/>
        </p:nvSpPr>
        <p:spPr>
          <a:xfrm>
            <a:off x="992238" y="6084094"/>
            <a:ext cx="16303523" cy="1465659"/>
          </a:xfrm>
          <a:prstGeom prst="rect">
            <a:avLst/>
          </a:prstGeom>
        </p:spPr>
        <p:txBody>
          <a:bodyPr lIns="0" tIns="0" rIns="0" bIns="0" rtlCol="0" anchor="t">
            <a:spAutoFit/>
          </a:bodyPr>
          <a:lstStyle/>
          <a:p>
            <a:pPr algn="l">
              <a:lnSpc>
                <a:spcPts val="3562"/>
              </a:lnSpc>
            </a:pPr>
            <a:r>
              <a:rPr lang="en-US" sz="2187">
                <a:solidFill>
                  <a:srgbClr val="EBECEF"/>
                </a:solidFill>
                <a:latin typeface="Arimo"/>
                <a:ea typeface="Arimo"/>
                <a:cs typeface="Arimo"/>
                <a:sym typeface="Arimo"/>
              </a:rPr>
              <a:t>During the document scanning process, hardware-level imperfections introduce subtle distortions into the resulting digital images. These distortions—originating from sensors, optics, and internal signal processing—are not visible to humans but remain consistently tied to the scanner device.</a:t>
            </a:r>
          </a:p>
        </p:txBody>
      </p:sp>
      <p:sp>
        <p:nvSpPr>
          <p:cNvPr id="9" name="TextBox 9"/>
          <p:cNvSpPr txBox="1"/>
          <p:nvPr/>
        </p:nvSpPr>
        <p:spPr>
          <a:xfrm>
            <a:off x="992238" y="7763913"/>
            <a:ext cx="16303523" cy="1012031"/>
          </a:xfrm>
          <a:prstGeom prst="rect">
            <a:avLst/>
          </a:prstGeom>
        </p:spPr>
        <p:txBody>
          <a:bodyPr lIns="0" tIns="0" rIns="0" bIns="0" rtlCol="0" anchor="t">
            <a:spAutoFit/>
          </a:bodyPr>
          <a:lstStyle/>
          <a:p>
            <a:pPr algn="l">
              <a:lnSpc>
                <a:spcPts val="3562"/>
              </a:lnSpc>
            </a:pPr>
            <a:r>
              <a:rPr lang="en-US" sz="2187">
                <a:solidFill>
                  <a:srgbClr val="EBECEF"/>
                </a:solidFill>
                <a:latin typeface="Arimo"/>
                <a:ea typeface="Arimo"/>
                <a:cs typeface="Arimo"/>
                <a:sym typeface="Arimo"/>
              </a:rPr>
              <a:t>Identifying these hidden patterns enables reliable attribution of a scanned document to its source device, which is a key requirement in digital forensics and document verification.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A8AFCC"/>
            </a:solidFill>
            <a:ln w="12700">
              <a:solidFill>
                <a:srgbClr val="000000"/>
              </a:solidFill>
            </a:ln>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80E26"/>
            </a:solidFill>
            <a:ln w="12700">
              <a:solidFill>
                <a:srgbClr val="000000"/>
              </a:solidFill>
            </a:ln>
          </p:spPr>
        </p:sp>
      </p:grpSp>
      <p:sp>
        <p:nvSpPr>
          <p:cNvPr id="6" name="Freeform 6" descr="preencoded.png"/>
          <p:cNvSpPr/>
          <p:nvPr/>
        </p:nvSpPr>
        <p:spPr>
          <a:xfrm>
            <a:off x="0" y="0"/>
            <a:ext cx="6858000" cy="10287000"/>
          </a:xfrm>
          <a:custGeom>
            <a:avLst/>
            <a:gdLst/>
            <a:ahLst/>
            <a:cxnLst/>
            <a:rect l="l" t="t" r="r" b="b"/>
            <a:pathLst>
              <a:path w="6858000" h="10287000">
                <a:moveTo>
                  <a:pt x="0" y="0"/>
                </a:moveTo>
                <a:lnTo>
                  <a:pt x="6858000" y="0"/>
                </a:lnTo>
                <a:lnTo>
                  <a:pt x="6858000" y="10287000"/>
                </a:lnTo>
                <a:lnTo>
                  <a:pt x="0" y="10287000"/>
                </a:lnTo>
                <a:lnTo>
                  <a:pt x="0" y="0"/>
                </a:lnTo>
                <a:close/>
              </a:path>
            </a:pathLst>
          </a:custGeom>
          <a:blipFill>
            <a:blip r:embed="rId3"/>
            <a:stretch>
              <a:fillRect/>
            </a:stretch>
          </a:blipFill>
        </p:spPr>
      </p:sp>
      <p:grpSp>
        <p:nvGrpSpPr>
          <p:cNvPr id="7" name="Group 7"/>
          <p:cNvGrpSpPr/>
          <p:nvPr/>
        </p:nvGrpSpPr>
        <p:grpSpPr>
          <a:xfrm>
            <a:off x="7812138" y="3758651"/>
            <a:ext cx="76200" cy="2769546"/>
            <a:chOff x="0" y="0"/>
            <a:chExt cx="101600" cy="3692728"/>
          </a:xfrm>
        </p:grpSpPr>
        <p:sp>
          <p:nvSpPr>
            <p:cNvPr id="8" name="Freeform 8"/>
            <p:cNvSpPr/>
            <p:nvPr/>
          </p:nvSpPr>
          <p:spPr>
            <a:xfrm>
              <a:off x="0" y="0"/>
              <a:ext cx="101600" cy="3692779"/>
            </a:xfrm>
            <a:custGeom>
              <a:avLst/>
              <a:gdLst/>
              <a:ahLst/>
              <a:cxnLst/>
              <a:rect l="l" t="t" r="r" b="b"/>
              <a:pathLst>
                <a:path w="101600" h="3692779">
                  <a:moveTo>
                    <a:pt x="0" y="0"/>
                  </a:moveTo>
                  <a:lnTo>
                    <a:pt x="101600" y="0"/>
                  </a:lnTo>
                  <a:lnTo>
                    <a:pt x="101600" y="3692779"/>
                  </a:lnTo>
                  <a:lnTo>
                    <a:pt x="0" y="3692779"/>
                  </a:lnTo>
                  <a:close/>
                </a:path>
              </a:pathLst>
            </a:custGeom>
            <a:solidFill>
              <a:srgbClr val="8C98CA"/>
            </a:solidFill>
            <a:ln w="12700">
              <a:solidFill>
                <a:srgbClr val="000000"/>
              </a:solidFill>
            </a:ln>
          </p:spPr>
        </p:sp>
      </p:grpSp>
      <p:sp>
        <p:nvSpPr>
          <p:cNvPr id="9" name="TextBox 9"/>
          <p:cNvSpPr txBox="1"/>
          <p:nvPr/>
        </p:nvSpPr>
        <p:spPr>
          <a:xfrm>
            <a:off x="8209959" y="3777701"/>
            <a:ext cx="5670652" cy="727767"/>
          </a:xfrm>
          <a:prstGeom prst="rect">
            <a:avLst/>
          </a:prstGeom>
        </p:spPr>
        <p:txBody>
          <a:bodyPr lIns="0" tIns="0" rIns="0" bIns="0" rtlCol="0" anchor="t">
            <a:spAutoFit/>
          </a:bodyPr>
          <a:lstStyle/>
          <a:p>
            <a:pPr algn="l">
              <a:lnSpc>
                <a:spcPts val="5562"/>
              </a:lnSpc>
            </a:pPr>
            <a:r>
              <a:rPr lang="en-US" sz="4437">
                <a:solidFill>
                  <a:srgbClr val="EBECEF"/>
                </a:solidFill>
                <a:latin typeface="Fraunces"/>
                <a:ea typeface="Fraunces"/>
                <a:cs typeface="Fraunces"/>
                <a:sym typeface="Fraunces"/>
              </a:rPr>
              <a:t>Project Objective</a:t>
            </a:r>
          </a:p>
        </p:txBody>
      </p:sp>
      <p:sp>
        <p:nvSpPr>
          <p:cNvPr id="10" name="TextBox 10"/>
          <p:cNvSpPr txBox="1"/>
          <p:nvPr/>
        </p:nvSpPr>
        <p:spPr>
          <a:xfrm>
            <a:off x="8209959" y="4570809"/>
            <a:ext cx="9085812" cy="1919287"/>
          </a:xfrm>
          <a:prstGeom prst="rect">
            <a:avLst/>
          </a:prstGeom>
        </p:spPr>
        <p:txBody>
          <a:bodyPr lIns="0" tIns="0" rIns="0" bIns="0" rtlCol="0" anchor="t">
            <a:spAutoFit/>
          </a:bodyPr>
          <a:lstStyle/>
          <a:p>
            <a:pPr algn="l">
              <a:lnSpc>
                <a:spcPts val="3562"/>
              </a:lnSpc>
            </a:pPr>
            <a:r>
              <a:rPr lang="en-US" sz="2187">
                <a:solidFill>
                  <a:srgbClr val="EBECEF"/>
                </a:solidFill>
                <a:latin typeface="Arimo"/>
                <a:ea typeface="Arimo"/>
                <a:cs typeface="Arimo"/>
                <a:sym typeface="Arimo"/>
              </a:rPr>
              <a:t>To build an automated system that determines the scanner brand responsible for a scanned document by learning device-specific artifacts using machine learning and deep learning models.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A8AFCC"/>
            </a:solidFill>
            <a:ln w="12700">
              <a:solidFill>
                <a:srgbClr val="000000"/>
              </a:solidFill>
            </a:ln>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80E26"/>
            </a:solidFill>
            <a:ln w="12700">
              <a:solidFill>
                <a:srgbClr val="000000"/>
              </a:solidFill>
            </a:ln>
          </p:spPr>
        </p:sp>
      </p:grpSp>
      <p:sp>
        <p:nvSpPr>
          <p:cNvPr id="6" name="Freeform 6" descr="preencoded.png"/>
          <p:cNvSpPr/>
          <p:nvPr/>
        </p:nvSpPr>
        <p:spPr>
          <a:xfrm>
            <a:off x="0" y="0"/>
            <a:ext cx="6858000" cy="10287000"/>
          </a:xfrm>
          <a:custGeom>
            <a:avLst/>
            <a:gdLst/>
            <a:ahLst/>
            <a:cxnLst/>
            <a:rect l="l" t="t" r="r" b="b"/>
            <a:pathLst>
              <a:path w="6858000" h="10287000">
                <a:moveTo>
                  <a:pt x="0" y="0"/>
                </a:moveTo>
                <a:lnTo>
                  <a:pt x="6858000" y="0"/>
                </a:lnTo>
                <a:lnTo>
                  <a:pt x="6858000" y="10287000"/>
                </a:lnTo>
                <a:lnTo>
                  <a:pt x="0" y="10287000"/>
                </a:lnTo>
                <a:lnTo>
                  <a:pt x="0" y="0"/>
                </a:lnTo>
                <a:close/>
              </a:path>
            </a:pathLst>
          </a:custGeom>
          <a:blipFill>
            <a:blip r:embed="rId3"/>
            <a:stretch>
              <a:fillRect/>
            </a:stretch>
          </a:blipFill>
        </p:spPr>
      </p:sp>
      <p:sp>
        <p:nvSpPr>
          <p:cNvPr id="7" name="TextBox 7"/>
          <p:cNvSpPr txBox="1"/>
          <p:nvPr/>
        </p:nvSpPr>
        <p:spPr>
          <a:xfrm>
            <a:off x="7850238" y="1757953"/>
            <a:ext cx="5670652" cy="727767"/>
          </a:xfrm>
          <a:prstGeom prst="rect">
            <a:avLst/>
          </a:prstGeom>
        </p:spPr>
        <p:txBody>
          <a:bodyPr lIns="0" tIns="0" rIns="0" bIns="0" rtlCol="0" anchor="t">
            <a:spAutoFit/>
          </a:bodyPr>
          <a:lstStyle/>
          <a:p>
            <a:pPr algn="l">
              <a:lnSpc>
                <a:spcPts val="5562"/>
              </a:lnSpc>
            </a:pPr>
            <a:r>
              <a:rPr lang="en-US" sz="4437">
                <a:solidFill>
                  <a:srgbClr val="FFFFFF"/>
                </a:solidFill>
                <a:latin typeface="Fraunces"/>
                <a:ea typeface="Fraunces"/>
                <a:cs typeface="Fraunces"/>
                <a:sym typeface="Fraunces"/>
              </a:rPr>
              <a:t>Dataset Description</a:t>
            </a:r>
          </a:p>
        </p:txBody>
      </p:sp>
      <p:sp>
        <p:nvSpPr>
          <p:cNvPr id="8" name="TextBox 8"/>
          <p:cNvSpPr txBox="1"/>
          <p:nvPr/>
        </p:nvSpPr>
        <p:spPr>
          <a:xfrm>
            <a:off x="7850238" y="2580084"/>
            <a:ext cx="4933207" cy="550659"/>
          </a:xfrm>
          <a:prstGeom prst="rect">
            <a:avLst/>
          </a:prstGeom>
        </p:spPr>
        <p:txBody>
          <a:bodyPr lIns="0" tIns="0" rIns="0" bIns="0" rtlCol="0" anchor="t">
            <a:spAutoFit/>
          </a:bodyPr>
          <a:lstStyle/>
          <a:p>
            <a:pPr algn="l">
              <a:lnSpc>
                <a:spcPts val="4125"/>
              </a:lnSpc>
            </a:pPr>
            <a:r>
              <a:rPr lang="en-US" sz="3312">
                <a:solidFill>
                  <a:srgbClr val="FFFFFF"/>
                </a:solidFill>
                <a:latin typeface="Fraunces"/>
                <a:ea typeface="Fraunces"/>
                <a:cs typeface="Fraunces"/>
                <a:sym typeface="Fraunces"/>
              </a:rPr>
              <a:t>Data Collection Strategy</a:t>
            </a:r>
          </a:p>
        </p:txBody>
      </p:sp>
      <p:sp>
        <p:nvSpPr>
          <p:cNvPr id="9" name="TextBox 9"/>
          <p:cNvSpPr txBox="1"/>
          <p:nvPr/>
        </p:nvSpPr>
        <p:spPr>
          <a:xfrm>
            <a:off x="7850238" y="3451174"/>
            <a:ext cx="9445523" cy="1012031"/>
          </a:xfrm>
          <a:prstGeom prst="rect">
            <a:avLst/>
          </a:prstGeom>
        </p:spPr>
        <p:txBody>
          <a:bodyPr lIns="0" tIns="0" rIns="0" bIns="0" rtlCol="0" anchor="t">
            <a:spAutoFit/>
          </a:bodyPr>
          <a:lstStyle/>
          <a:p>
            <a:pPr algn="l">
              <a:lnSpc>
                <a:spcPts val="3562"/>
              </a:lnSpc>
            </a:pPr>
            <a:r>
              <a:rPr lang="en-US" sz="2187">
                <a:solidFill>
                  <a:srgbClr val="EBECEF"/>
                </a:solidFill>
                <a:latin typeface="Arimo"/>
                <a:ea typeface="Arimo"/>
                <a:cs typeface="Arimo"/>
                <a:sym typeface="Arimo"/>
              </a:rPr>
              <a:t>A multi-device dataset was created by scanning documents using commercially available scanners from different manufacturers.</a:t>
            </a:r>
          </a:p>
        </p:txBody>
      </p:sp>
      <p:sp>
        <p:nvSpPr>
          <p:cNvPr id="10" name="TextBox 10"/>
          <p:cNvSpPr txBox="1"/>
          <p:nvPr/>
        </p:nvSpPr>
        <p:spPr>
          <a:xfrm>
            <a:off x="7850238" y="4869361"/>
            <a:ext cx="4252912" cy="550659"/>
          </a:xfrm>
          <a:prstGeom prst="rect">
            <a:avLst/>
          </a:prstGeom>
        </p:spPr>
        <p:txBody>
          <a:bodyPr lIns="0" tIns="0" rIns="0" bIns="0" rtlCol="0" anchor="t">
            <a:spAutoFit/>
          </a:bodyPr>
          <a:lstStyle/>
          <a:p>
            <a:pPr algn="l">
              <a:lnSpc>
                <a:spcPts val="4125"/>
              </a:lnSpc>
            </a:pPr>
            <a:r>
              <a:rPr lang="en-US" sz="3312">
                <a:solidFill>
                  <a:srgbClr val="FFFFFF"/>
                </a:solidFill>
                <a:latin typeface="Fraunces"/>
                <a:ea typeface="Fraunces"/>
                <a:cs typeface="Fraunces"/>
                <a:sym typeface="Fraunces"/>
              </a:rPr>
              <a:t>Dataset Highlights</a:t>
            </a:r>
          </a:p>
        </p:txBody>
      </p:sp>
      <p:sp>
        <p:nvSpPr>
          <p:cNvPr id="11" name="TextBox 11"/>
          <p:cNvSpPr txBox="1"/>
          <p:nvPr/>
        </p:nvSpPr>
        <p:spPr>
          <a:xfrm>
            <a:off x="7850238" y="5740451"/>
            <a:ext cx="9445523" cy="558403"/>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EBECEF"/>
                </a:solidFill>
                <a:latin typeface="Arimo"/>
                <a:ea typeface="Arimo"/>
                <a:cs typeface="Arimo"/>
                <a:sym typeface="Arimo"/>
              </a:rPr>
              <a:t>More than </a:t>
            </a:r>
            <a:r>
              <a:rPr lang="en-US" sz="2187" b="1">
                <a:solidFill>
                  <a:srgbClr val="EBECEF"/>
                </a:solidFill>
                <a:latin typeface="Arimo Bold"/>
                <a:ea typeface="Arimo Bold"/>
                <a:cs typeface="Arimo Bold"/>
                <a:sym typeface="Arimo Bold"/>
              </a:rPr>
              <a:t>1000 document images</a:t>
            </a:r>
          </a:p>
        </p:txBody>
      </p:sp>
      <p:sp>
        <p:nvSpPr>
          <p:cNvPr id="12" name="TextBox 12"/>
          <p:cNvSpPr txBox="1"/>
          <p:nvPr/>
        </p:nvSpPr>
        <p:spPr>
          <a:xfrm>
            <a:off x="7850238" y="6293196"/>
            <a:ext cx="9445523" cy="558403"/>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EBECEF"/>
                </a:solidFill>
                <a:latin typeface="Arimo"/>
                <a:ea typeface="Arimo"/>
                <a:cs typeface="Arimo"/>
                <a:sym typeface="Arimo"/>
              </a:rPr>
              <a:t>Scanner brands include </a:t>
            </a:r>
            <a:r>
              <a:rPr lang="en-US" sz="2187" b="1">
                <a:solidFill>
                  <a:srgbClr val="EBECEF"/>
                </a:solidFill>
                <a:latin typeface="Arimo Bold"/>
                <a:ea typeface="Arimo Bold"/>
                <a:cs typeface="Arimo Bold"/>
                <a:sym typeface="Arimo Bold"/>
              </a:rPr>
              <a:t>Canon, HP, and Epson</a:t>
            </a:r>
          </a:p>
        </p:txBody>
      </p:sp>
      <p:sp>
        <p:nvSpPr>
          <p:cNvPr id="13" name="TextBox 13"/>
          <p:cNvSpPr txBox="1"/>
          <p:nvPr/>
        </p:nvSpPr>
        <p:spPr>
          <a:xfrm>
            <a:off x="7850238" y="6845941"/>
            <a:ext cx="9445523" cy="558403"/>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EBECEF"/>
                </a:solidFill>
                <a:latin typeface="Arimo"/>
                <a:ea typeface="Arimo"/>
                <a:cs typeface="Arimo"/>
                <a:sym typeface="Arimo"/>
              </a:rPr>
              <a:t>Images acquired at </a:t>
            </a:r>
            <a:r>
              <a:rPr lang="en-US" sz="2187" b="1">
                <a:solidFill>
                  <a:srgbClr val="EBECEF"/>
                </a:solidFill>
                <a:latin typeface="Arimo Bold"/>
                <a:ea typeface="Arimo Bold"/>
                <a:cs typeface="Arimo Bold"/>
                <a:sym typeface="Arimo Bold"/>
              </a:rPr>
              <a:t>150 DPI and 300 DPI</a:t>
            </a:r>
          </a:p>
        </p:txBody>
      </p:sp>
      <p:sp>
        <p:nvSpPr>
          <p:cNvPr id="14" name="TextBox 14"/>
          <p:cNvSpPr txBox="1"/>
          <p:nvPr/>
        </p:nvSpPr>
        <p:spPr>
          <a:xfrm>
            <a:off x="7850238" y="7398696"/>
            <a:ext cx="9445523" cy="558403"/>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EBECEF"/>
                </a:solidFill>
                <a:latin typeface="Arimo"/>
                <a:ea typeface="Arimo"/>
                <a:cs typeface="Arimo"/>
                <a:sym typeface="Arimo"/>
              </a:rPr>
              <a:t>Stored in </a:t>
            </a:r>
            <a:r>
              <a:rPr lang="en-US" sz="2187" b="1">
                <a:solidFill>
                  <a:srgbClr val="EBECEF"/>
                </a:solidFill>
                <a:latin typeface="Arimo Bold"/>
                <a:ea typeface="Arimo Bold"/>
                <a:cs typeface="Arimo Bold"/>
                <a:sym typeface="Arimo Bold"/>
              </a:rPr>
              <a:t>lossless TIFF format</a:t>
            </a:r>
            <a:r>
              <a:rPr lang="en-US" sz="2187">
                <a:solidFill>
                  <a:srgbClr val="EBECEF"/>
                </a:solidFill>
                <a:latin typeface="Arimo"/>
                <a:ea typeface="Arimo"/>
                <a:cs typeface="Arimo"/>
                <a:sym typeface="Arimo"/>
              </a:rPr>
              <a:t> to preserve noise patterns</a:t>
            </a:r>
          </a:p>
        </p:txBody>
      </p:sp>
      <p:sp>
        <p:nvSpPr>
          <p:cNvPr id="15" name="TextBox 15"/>
          <p:cNvSpPr txBox="1"/>
          <p:nvPr/>
        </p:nvSpPr>
        <p:spPr>
          <a:xfrm>
            <a:off x="7850238" y="7951441"/>
            <a:ext cx="9445523" cy="558403"/>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EBECEF"/>
                </a:solidFill>
                <a:latin typeface="Arimo"/>
                <a:ea typeface="Arimo"/>
                <a:cs typeface="Arimo"/>
                <a:sym typeface="Arimo"/>
              </a:rPr>
              <a:t>Manually annotated with scanner brand labels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A8AFCC"/>
            </a:solidFill>
            <a:ln w="12700">
              <a:solidFill>
                <a:srgbClr val="000000"/>
              </a:solidFill>
            </a:ln>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80E26"/>
            </a:solidFill>
            <a:ln w="12700">
              <a:solidFill>
                <a:srgbClr val="000000"/>
              </a:solidFill>
            </a:ln>
          </p:spPr>
        </p:sp>
      </p:grpSp>
      <p:sp>
        <p:nvSpPr>
          <p:cNvPr id="6" name="Freeform 6" descr="preencoded.png"/>
          <p:cNvSpPr/>
          <p:nvPr/>
        </p:nvSpPr>
        <p:spPr>
          <a:xfrm>
            <a:off x="0" y="0"/>
            <a:ext cx="18288000" cy="2935338"/>
          </a:xfrm>
          <a:custGeom>
            <a:avLst/>
            <a:gdLst/>
            <a:ahLst/>
            <a:cxnLst/>
            <a:rect l="l" t="t" r="r" b="b"/>
            <a:pathLst>
              <a:path w="18288000" h="2935338">
                <a:moveTo>
                  <a:pt x="0" y="0"/>
                </a:moveTo>
                <a:lnTo>
                  <a:pt x="18288000" y="0"/>
                </a:lnTo>
                <a:lnTo>
                  <a:pt x="18288000" y="2935338"/>
                </a:lnTo>
                <a:lnTo>
                  <a:pt x="0" y="2935338"/>
                </a:lnTo>
                <a:lnTo>
                  <a:pt x="0" y="0"/>
                </a:lnTo>
                <a:close/>
              </a:path>
            </a:pathLst>
          </a:custGeom>
          <a:blipFill>
            <a:blip r:embed="rId3"/>
            <a:stretch>
              <a:fillRect l="-27" r="-27"/>
            </a:stretch>
          </a:blipFill>
        </p:spPr>
      </p:sp>
      <p:sp>
        <p:nvSpPr>
          <p:cNvPr id="7" name="TextBox 7"/>
          <p:cNvSpPr txBox="1"/>
          <p:nvPr/>
        </p:nvSpPr>
        <p:spPr>
          <a:xfrm>
            <a:off x="1717472" y="3575152"/>
            <a:ext cx="6264326" cy="596656"/>
          </a:xfrm>
          <a:prstGeom prst="rect">
            <a:avLst/>
          </a:prstGeom>
        </p:spPr>
        <p:txBody>
          <a:bodyPr lIns="0" tIns="0" rIns="0" bIns="0" rtlCol="0" anchor="t">
            <a:spAutoFit/>
          </a:bodyPr>
          <a:lstStyle/>
          <a:p>
            <a:pPr algn="l">
              <a:lnSpc>
                <a:spcPts val="4562"/>
              </a:lnSpc>
            </a:pPr>
            <a:r>
              <a:rPr lang="en-US" sz="3687">
                <a:solidFill>
                  <a:srgbClr val="FFFFFF"/>
                </a:solidFill>
                <a:latin typeface="Fraunces"/>
                <a:ea typeface="Fraunces"/>
                <a:cs typeface="Fraunces"/>
                <a:sym typeface="Fraunces"/>
              </a:rPr>
              <a:t>Preprocessing Methodology</a:t>
            </a:r>
          </a:p>
        </p:txBody>
      </p:sp>
      <p:sp>
        <p:nvSpPr>
          <p:cNvPr id="8" name="TextBox 8"/>
          <p:cNvSpPr txBox="1"/>
          <p:nvPr/>
        </p:nvSpPr>
        <p:spPr>
          <a:xfrm>
            <a:off x="1717472" y="4428677"/>
            <a:ext cx="14852894" cy="470897"/>
          </a:xfrm>
          <a:prstGeom prst="rect">
            <a:avLst/>
          </a:prstGeom>
        </p:spPr>
        <p:txBody>
          <a:bodyPr lIns="0" tIns="0" rIns="0" bIns="0" rtlCol="0" anchor="t">
            <a:spAutoFit/>
          </a:bodyPr>
          <a:lstStyle/>
          <a:p>
            <a:pPr algn="l">
              <a:lnSpc>
                <a:spcPts val="2937"/>
              </a:lnSpc>
            </a:pPr>
            <a:r>
              <a:rPr lang="en-US" sz="1812">
                <a:solidFill>
                  <a:srgbClr val="EBECEF"/>
                </a:solidFill>
                <a:latin typeface="Arimo"/>
                <a:ea typeface="Arimo"/>
                <a:cs typeface="Arimo"/>
                <a:sym typeface="Arimo"/>
              </a:rPr>
              <a:t>A unified preprocessing pipeline was designed to ensure consistency and artifact preservation across all samples.</a:t>
            </a:r>
          </a:p>
        </p:txBody>
      </p:sp>
      <p:grpSp>
        <p:nvGrpSpPr>
          <p:cNvPr id="9" name="Group 9"/>
          <p:cNvGrpSpPr/>
          <p:nvPr/>
        </p:nvGrpSpPr>
        <p:grpSpPr>
          <a:xfrm>
            <a:off x="1717472" y="5515870"/>
            <a:ext cx="4794494" cy="1950834"/>
            <a:chOff x="0" y="0"/>
            <a:chExt cx="6392659" cy="2601112"/>
          </a:xfrm>
        </p:grpSpPr>
        <p:sp>
          <p:nvSpPr>
            <p:cNvPr id="10" name="Freeform 10"/>
            <p:cNvSpPr/>
            <p:nvPr/>
          </p:nvSpPr>
          <p:spPr>
            <a:xfrm>
              <a:off x="0" y="0"/>
              <a:ext cx="6392672" cy="2601087"/>
            </a:xfrm>
            <a:custGeom>
              <a:avLst/>
              <a:gdLst/>
              <a:ahLst/>
              <a:cxnLst/>
              <a:rect l="l" t="t" r="r" b="b"/>
              <a:pathLst>
                <a:path w="6392672" h="2601087">
                  <a:moveTo>
                    <a:pt x="0" y="182880"/>
                  </a:moveTo>
                  <a:cubicBezTo>
                    <a:pt x="0" y="81915"/>
                    <a:pt x="81915" y="0"/>
                    <a:pt x="182880" y="0"/>
                  </a:cubicBezTo>
                  <a:lnTo>
                    <a:pt x="6209792" y="0"/>
                  </a:lnTo>
                  <a:cubicBezTo>
                    <a:pt x="6310757" y="0"/>
                    <a:pt x="6392672" y="81915"/>
                    <a:pt x="6392672" y="182880"/>
                  </a:cubicBezTo>
                  <a:lnTo>
                    <a:pt x="6392672" y="2418207"/>
                  </a:lnTo>
                  <a:cubicBezTo>
                    <a:pt x="6392672" y="2519172"/>
                    <a:pt x="6310757" y="2601087"/>
                    <a:pt x="6209792" y="2601087"/>
                  </a:cubicBezTo>
                  <a:lnTo>
                    <a:pt x="182880" y="2601087"/>
                  </a:lnTo>
                  <a:cubicBezTo>
                    <a:pt x="81915" y="2601087"/>
                    <a:pt x="0" y="2519172"/>
                    <a:pt x="0" y="2418207"/>
                  </a:cubicBezTo>
                  <a:close/>
                </a:path>
              </a:pathLst>
            </a:custGeom>
            <a:solidFill>
              <a:srgbClr val="080E26"/>
            </a:solidFill>
            <a:ln w="12700">
              <a:solidFill>
                <a:srgbClr val="000000"/>
              </a:solidFill>
            </a:ln>
          </p:spPr>
        </p:sp>
      </p:grpSp>
      <p:grpSp>
        <p:nvGrpSpPr>
          <p:cNvPr id="11" name="Group 11"/>
          <p:cNvGrpSpPr/>
          <p:nvPr/>
        </p:nvGrpSpPr>
        <p:grpSpPr>
          <a:xfrm>
            <a:off x="1717472" y="5487295"/>
            <a:ext cx="4794494" cy="114300"/>
            <a:chOff x="0" y="0"/>
            <a:chExt cx="6392659" cy="152400"/>
          </a:xfrm>
        </p:grpSpPr>
        <p:sp>
          <p:nvSpPr>
            <p:cNvPr id="12" name="Freeform 12"/>
            <p:cNvSpPr/>
            <p:nvPr/>
          </p:nvSpPr>
          <p:spPr>
            <a:xfrm>
              <a:off x="0" y="0"/>
              <a:ext cx="6392672" cy="152400"/>
            </a:xfrm>
            <a:custGeom>
              <a:avLst/>
              <a:gdLst/>
              <a:ahLst/>
              <a:cxnLst/>
              <a:rect l="l" t="t" r="r" b="b"/>
              <a:pathLst>
                <a:path w="6392672" h="152400">
                  <a:moveTo>
                    <a:pt x="0" y="76200"/>
                  </a:moveTo>
                  <a:cubicBezTo>
                    <a:pt x="0" y="34163"/>
                    <a:pt x="34163" y="0"/>
                    <a:pt x="76200" y="0"/>
                  </a:cubicBezTo>
                  <a:lnTo>
                    <a:pt x="6316472" y="0"/>
                  </a:lnTo>
                  <a:cubicBezTo>
                    <a:pt x="6358509" y="0"/>
                    <a:pt x="6392672" y="34163"/>
                    <a:pt x="6392672" y="76200"/>
                  </a:cubicBezTo>
                  <a:cubicBezTo>
                    <a:pt x="6392672" y="118237"/>
                    <a:pt x="6358509" y="152400"/>
                    <a:pt x="6316472" y="152400"/>
                  </a:cubicBezTo>
                  <a:lnTo>
                    <a:pt x="76200" y="152400"/>
                  </a:lnTo>
                  <a:cubicBezTo>
                    <a:pt x="34163" y="152400"/>
                    <a:pt x="0" y="118237"/>
                    <a:pt x="0" y="76200"/>
                  </a:cubicBezTo>
                  <a:close/>
                </a:path>
              </a:pathLst>
            </a:custGeom>
            <a:solidFill>
              <a:srgbClr val="8C98CA"/>
            </a:solidFill>
            <a:ln w="12700">
              <a:solidFill>
                <a:srgbClr val="000000"/>
              </a:solidFill>
            </a:ln>
          </p:spPr>
        </p:sp>
      </p:grpSp>
      <p:grpSp>
        <p:nvGrpSpPr>
          <p:cNvPr id="13" name="Group 13"/>
          <p:cNvGrpSpPr/>
          <p:nvPr/>
        </p:nvGrpSpPr>
        <p:grpSpPr>
          <a:xfrm>
            <a:off x="3762451" y="5163741"/>
            <a:ext cx="704402" cy="704402"/>
            <a:chOff x="0" y="0"/>
            <a:chExt cx="939203" cy="939203"/>
          </a:xfrm>
        </p:grpSpPr>
        <p:sp>
          <p:nvSpPr>
            <p:cNvPr id="14" name="Freeform 14"/>
            <p:cNvSpPr/>
            <p:nvPr/>
          </p:nvSpPr>
          <p:spPr>
            <a:xfrm>
              <a:off x="0" y="0"/>
              <a:ext cx="939165" cy="939165"/>
            </a:xfrm>
            <a:custGeom>
              <a:avLst/>
              <a:gdLst/>
              <a:ahLst/>
              <a:cxnLst/>
              <a:rect l="l" t="t" r="r" b="b"/>
              <a:pathLst>
                <a:path w="939165" h="939165">
                  <a:moveTo>
                    <a:pt x="0" y="469646"/>
                  </a:moveTo>
                  <a:cubicBezTo>
                    <a:pt x="0" y="210185"/>
                    <a:pt x="210185" y="0"/>
                    <a:pt x="469646" y="0"/>
                  </a:cubicBezTo>
                  <a:cubicBezTo>
                    <a:pt x="729107" y="0"/>
                    <a:pt x="939165" y="210185"/>
                    <a:pt x="939165" y="469646"/>
                  </a:cubicBezTo>
                  <a:cubicBezTo>
                    <a:pt x="939165" y="729107"/>
                    <a:pt x="728980" y="939165"/>
                    <a:pt x="469646" y="939165"/>
                  </a:cubicBezTo>
                  <a:cubicBezTo>
                    <a:pt x="210312" y="939165"/>
                    <a:pt x="0" y="728980"/>
                    <a:pt x="0" y="469646"/>
                  </a:cubicBezTo>
                  <a:close/>
                </a:path>
              </a:pathLst>
            </a:custGeom>
            <a:solidFill>
              <a:srgbClr val="8C98CA"/>
            </a:solidFill>
            <a:ln w="12700">
              <a:solidFill>
                <a:srgbClr val="000000"/>
              </a:solidFill>
            </a:ln>
          </p:spPr>
        </p:sp>
      </p:grpSp>
      <p:sp>
        <p:nvSpPr>
          <p:cNvPr id="15" name="TextBox 15"/>
          <p:cNvSpPr txBox="1"/>
          <p:nvPr/>
        </p:nvSpPr>
        <p:spPr>
          <a:xfrm>
            <a:off x="3973782" y="5254076"/>
            <a:ext cx="281730" cy="437855"/>
          </a:xfrm>
          <a:prstGeom prst="rect">
            <a:avLst/>
          </a:prstGeom>
        </p:spPr>
        <p:txBody>
          <a:bodyPr lIns="0" tIns="0" rIns="0" bIns="0" rtlCol="0" anchor="t">
            <a:spAutoFit/>
          </a:bodyPr>
          <a:lstStyle/>
          <a:p>
            <a:pPr algn="l">
              <a:lnSpc>
                <a:spcPts val="3500"/>
              </a:lnSpc>
            </a:pPr>
            <a:r>
              <a:rPr lang="en-US" sz="2187">
                <a:solidFill>
                  <a:srgbClr val="000000"/>
                </a:solidFill>
                <a:latin typeface="Fraunces"/>
                <a:ea typeface="Fraunces"/>
                <a:cs typeface="Fraunces"/>
                <a:sym typeface="Fraunces"/>
              </a:rPr>
              <a:t>1</a:t>
            </a:r>
          </a:p>
        </p:txBody>
      </p:sp>
      <p:sp>
        <p:nvSpPr>
          <p:cNvPr id="16" name="TextBox 16"/>
          <p:cNvSpPr txBox="1"/>
          <p:nvPr/>
        </p:nvSpPr>
        <p:spPr>
          <a:xfrm>
            <a:off x="1980752" y="6093323"/>
            <a:ext cx="4267943" cy="1110110"/>
          </a:xfrm>
          <a:prstGeom prst="rect">
            <a:avLst/>
          </a:prstGeom>
        </p:spPr>
        <p:txBody>
          <a:bodyPr lIns="0" tIns="0" rIns="0" bIns="0" rtlCol="0" anchor="t">
            <a:spAutoFit/>
          </a:bodyPr>
          <a:lstStyle/>
          <a:p>
            <a:pPr algn="l">
              <a:lnSpc>
                <a:spcPts val="2875"/>
              </a:lnSpc>
            </a:pPr>
            <a:r>
              <a:rPr lang="en-US" sz="2249">
                <a:solidFill>
                  <a:srgbClr val="EBECEF"/>
                </a:solidFill>
                <a:latin typeface="Fraunces"/>
                <a:ea typeface="Fraunces"/>
                <a:cs typeface="Fraunces"/>
                <a:sym typeface="Fraunces"/>
              </a:rPr>
              <a:t>Grayscale transformation to emphasize texture information</a:t>
            </a:r>
          </a:p>
        </p:txBody>
      </p:sp>
      <p:grpSp>
        <p:nvGrpSpPr>
          <p:cNvPr id="17" name="Group 17"/>
          <p:cNvGrpSpPr/>
          <p:nvPr/>
        </p:nvGrpSpPr>
        <p:grpSpPr>
          <a:xfrm>
            <a:off x="6746672" y="5515870"/>
            <a:ext cx="4794494" cy="1950834"/>
            <a:chOff x="0" y="0"/>
            <a:chExt cx="6392659" cy="2601112"/>
          </a:xfrm>
        </p:grpSpPr>
        <p:sp>
          <p:nvSpPr>
            <p:cNvPr id="18" name="Freeform 18"/>
            <p:cNvSpPr/>
            <p:nvPr/>
          </p:nvSpPr>
          <p:spPr>
            <a:xfrm>
              <a:off x="0" y="0"/>
              <a:ext cx="6392672" cy="2601087"/>
            </a:xfrm>
            <a:custGeom>
              <a:avLst/>
              <a:gdLst/>
              <a:ahLst/>
              <a:cxnLst/>
              <a:rect l="l" t="t" r="r" b="b"/>
              <a:pathLst>
                <a:path w="6392672" h="2601087">
                  <a:moveTo>
                    <a:pt x="0" y="182880"/>
                  </a:moveTo>
                  <a:cubicBezTo>
                    <a:pt x="0" y="81915"/>
                    <a:pt x="81915" y="0"/>
                    <a:pt x="182880" y="0"/>
                  </a:cubicBezTo>
                  <a:lnTo>
                    <a:pt x="6209792" y="0"/>
                  </a:lnTo>
                  <a:cubicBezTo>
                    <a:pt x="6310757" y="0"/>
                    <a:pt x="6392672" y="81915"/>
                    <a:pt x="6392672" y="182880"/>
                  </a:cubicBezTo>
                  <a:lnTo>
                    <a:pt x="6392672" y="2418207"/>
                  </a:lnTo>
                  <a:cubicBezTo>
                    <a:pt x="6392672" y="2519172"/>
                    <a:pt x="6310757" y="2601087"/>
                    <a:pt x="6209792" y="2601087"/>
                  </a:cubicBezTo>
                  <a:lnTo>
                    <a:pt x="182880" y="2601087"/>
                  </a:lnTo>
                  <a:cubicBezTo>
                    <a:pt x="81915" y="2601087"/>
                    <a:pt x="0" y="2519172"/>
                    <a:pt x="0" y="2418207"/>
                  </a:cubicBezTo>
                  <a:close/>
                </a:path>
              </a:pathLst>
            </a:custGeom>
            <a:solidFill>
              <a:srgbClr val="080E26"/>
            </a:solidFill>
            <a:ln w="12700">
              <a:solidFill>
                <a:srgbClr val="000000"/>
              </a:solidFill>
            </a:ln>
          </p:spPr>
        </p:sp>
      </p:grpSp>
      <p:grpSp>
        <p:nvGrpSpPr>
          <p:cNvPr id="19" name="Group 19"/>
          <p:cNvGrpSpPr/>
          <p:nvPr/>
        </p:nvGrpSpPr>
        <p:grpSpPr>
          <a:xfrm>
            <a:off x="6746672" y="5487295"/>
            <a:ext cx="4794494" cy="114300"/>
            <a:chOff x="0" y="0"/>
            <a:chExt cx="6392659" cy="152400"/>
          </a:xfrm>
        </p:grpSpPr>
        <p:sp>
          <p:nvSpPr>
            <p:cNvPr id="20" name="Freeform 20"/>
            <p:cNvSpPr/>
            <p:nvPr/>
          </p:nvSpPr>
          <p:spPr>
            <a:xfrm>
              <a:off x="0" y="0"/>
              <a:ext cx="6392672" cy="152400"/>
            </a:xfrm>
            <a:custGeom>
              <a:avLst/>
              <a:gdLst/>
              <a:ahLst/>
              <a:cxnLst/>
              <a:rect l="l" t="t" r="r" b="b"/>
              <a:pathLst>
                <a:path w="6392672" h="152400">
                  <a:moveTo>
                    <a:pt x="0" y="76200"/>
                  </a:moveTo>
                  <a:cubicBezTo>
                    <a:pt x="0" y="34163"/>
                    <a:pt x="34163" y="0"/>
                    <a:pt x="76200" y="0"/>
                  </a:cubicBezTo>
                  <a:lnTo>
                    <a:pt x="6316472" y="0"/>
                  </a:lnTo>
                  <a:cubicBezTo>
                    <a:pt x="6358509" y="0"/>
                    <a:pt x="6392672" y="34163"/>
                    <a:pt x="6392672" y="76200"/>
                  </a:cubicBezTo>
                  <a:cubicBezTo>
                    <a:pt x="6392672" y="118237"/>
                    <a:pt x="6358509" y="152400"/>
                    <a:pt x="6316472" y="152400"/>
                  </a:cubicBezTo>
                  <a:lnTo>
                    <a:pt x="76200" y="152400"/>
                  </a:lnTo>
                  <a:cubicBezTo>
                    <a:pt x="34163" y="152400"/>
                    <a:pt x="0" y="118237"/>
                    <a:pt x="0" y="76200"/>
                  </a:cubicBezTo>
                  <a:close/>
                </a:path>
              </a:pathLst>
            </a:custGeom>
            <a:solidFill>
              <a:srgbClr val="8C98CA"/>
            </a:solidFill>
            <a:ln w="12700">
              <a:solidFill>
                <a:srgbClr val="000000"/>
              </a:solidFill>
            </a:ln>
          </p:spPr>
        </p:sp>
      </p:grpSp>
      <p:grpSp>
        <p:nvGrpSpPr>
          <p:cNvPr id="21" name="Group 21"/>
          <p:cNvGrpSpPr/>
          <p:nvPr/>
        </p:nvGrpSpPr>
        <p:grpSpPr>
          <a:xfrm>
            <a:off x="8791651" y="5163741"/>
            <a:ext cx="704402" cy="704402"/>
            <a:chOff x="0" y="0"/>
            <a:chExt cx="939203" cy="939203"/>
          </a:xfrm>
        </p:grpSpPr>
        <p:sp>
          <p:nvSpPr>
            <p:cNvPr id="22" name="Freeform 22"/>
            <p:cNvSpPr/>
            <p:nvPr/>
          </p:nvSpPr>
          <p:spPr>
            <a:xfrm>
              <a:off x="0" y="0"/>
              <a:ext cx="939165" cy="939165"/>
            </a:xfrm>
            <a:custGeom>
              <a:avLst/>
              <a:gdLst/>
              <a:ahLst/>
              <a:cxnLst/>
              <a:rect l="l" t="t" r="r" b="b"/>
              <a:pathLst>
                <a:path w="939165" h="939165">
                  <a:moveTo>
                    <a:pt x="0" y="469646"/>
                  </a:moveTo>
                  <a:cubicBezTo>
                    <a:pt x="0" y="210185"/>
                    <a:pt x="210185" y="0"/>
                    <a:pt x="469646" y="0"/>
                  </a:cubicBezTo>
                  <a:cubicBezTo>
                    <a:pt x="729107" y="0"/>
                    <a:pt x="939165" y="210185"/>
                    <a:pt x="939165" y="469646"/>
                  </a:cubicBezTo>
                  <a:cubicBezTo>
                    <a:pt x="939165" y="729107"/>
                    <a:pt x="728980" y="939165"/>
                    <a:pt x="469646" y="939165"/>
                  </a:cubicBezTo>
                  <a:cubicBezTo>
                    <a:pt x="210312" y="939165"/>
                    <a:pt x="0" y="728980"/>
                    <a:pt x="0" y="469646"/>
                  </a:cubicBezTo>
                  <a:close/>
                </a:path>
              </a:pathLst>
            </a:custGeom>
            <a:solidFill>
              <a:srgbClr val="8C98CA"/>
            </a:solidFill>
            <a:ln w="12700">
              <a:solidFill>
                <a:srgbClr val="000000"/>
              </a:solidFill>
            </a:ln>
          </p:spPr>
        </p:sp>
      </p:grpSp>
      <p:sp>
        <p:nvSpPr>
          <p:cNvPr id="23" name="TextBox 23"/>
          <p:cNvSpPr txBox="1"/>
          <p:nvPr/>
        </p:nvSpPr>
        <p:spPr>
          <a:xfrm>
            <a:off x="9002982" y="5254076"/>
            <a:ext cx="281730" cy="437855"/>
          </a:xfrm>
          <a:prstGeom prst="rect">
            <a:avLst/>
          </a:prstGeom>
        </p:spPr>
        <p:txBody>
          <a:bodyPr lIns="0" tIns="0" rIns="0" bIns="0" rtlCol="0" anchor="t">
            <a:spAutoFit/>
          </a:bodyPr>
          <a:lstStyle/>
          <a:p>
            <a:pPr algn="l">
              <a:lnSpc>
                <a:spcPts val="3500"/>
              </a:lnSpc>
            </a:pPr>
            <a:r>
              <a:rPr lang="en-US" sz="2187">
                <a:solidFill>
                  <a:srgbClr val="000000"/>
                </a:solidFill>
                <a:latin typeface="Fraunces"/>
                <a:ea typeface="Fraunces"/>
                <a:cs typeface="Fraunces"/>
                <a:sym typeface="Fraunces"/>
              </a:rPr>
              <a:t>2</a:t>
            </a:r>
          </a:p>
        </p:txBody>
      </p:sp>
      <p:sp>
        <p:nvSpPr>
          <p:cNvPr id="24" name="TextBox 24"/>
          <p:cNvSpPr txBox="1"/>
          <p:nvPr/>
        </p:nvSpPr>
        <p:spPr>
          <a:xfrm>
            <a:off x="7009952" y="6093323"/>
            <a:ext cx="4267943" cy="743245"/>
          </a:xfrm>
          <a:prstGeom prst="rect">
            <a:avLst/>
          </a:prstGeom>
        </p:spPr>
        <p:txBody>
          <a:bodyPr lIns="0" tIns="0" rIns="0" bIns="0" rtlCol="0" anchor="t">
            <a:spAutoFit/>
          </a:bodyPr>
          <a:lstStyle/>
          <a:p>
            <a:pPr algn="l">
              <a:lnSpc>
                <a:spcPts val="2875"/>
              </a:lnSpc>
            </a:pPr>
            <a:r>
              <a:rPr lang="en-US" sz="2249">
                <a:solidFill>
                  <a:srgbClr val="EBECEF"/>
                </a:solidFill>
                <a:latin typeface="Fraunces"/>
                <a:ea typeface="Fraunces"/>
                <a:cs typeface="Fraunces"/>
                <a:sym typeface="Fraunces"/>
              </a:rPr>
              <a:t>Image resizing for uniform model input</a:t>
            </a:r>
          </a:p>
        </p:txBody>
      </p:sp>
      <p:grpSp>
        <p:nvGrpSpPr>
          <p:cNvPr id="25" name="Group 25"/>
          <p:cNvGrpSpPr/>
          <p:nvPr/>
        </p:nvGrpSpPr>
        <p:grpSpPr>
          <a:xfrm>
            <a:off x="11775872" y="5515870"/>
            <a:ext cx="4794494" cy="1950834"/>
            <a:chOff x="0" y="0"/>
            <a:chExt cx="6392659" cy="2601112"/>
          </a:xfrm>
        </p:grpSpPr>
        <p:sp>
          <p:nvSpPr>
            <p:cNvPr id="26" name="Freeform 26"/>
            <p:cNvSpPr/>
            <p:nvPr/>
          </p:nvSpPr>
          <p:spPr>
            <a:xfrm>
              <a:off x="0" y="0"/>
              <a:ext cx="6392672" cy="2601087"/>
            </a:xfrm>
            <a:custGeom>
              <a:avLst/>
              <a:gdLst/>
              <a:ahLst/>
              <a:cxnLst/>
              <a:rect l="l" t="t" r="r" b="b"/>
              <a:pathLst>
                <a:path w="6392672" h="2601087">
                  <a:moveTo>
                    <a:pt x="0" y="182880"/>
                  </a:moveTo>
                  <a:cubicBezTo>
                    <a:pt x="0" y="81915"/>
                    <a:pt x="81915" y="0"/>
                    <a:pt x="182880" y="0"/>
                  </a:cubicBezTo>
                  <a:lnTo>
                    <a:pt x="6209792" y="0"/>
                  </a:lnTo>
                  <a:cubicBezTo>
                    <a:pt x="6310757" y="0"/>
                    <a:pt x="6392672" y="81915"/>
                    <a:pt x="6392672" y="182880"/>
                  </a:cubicBezTo>
                  <a:lnTo>
                    <a:pt x="6392672" y="2418207"/>
                  </a:lnTo>
                  <a:cubicBezTo>
                    <a:pt x="6392672" y="2519172"/>
                    <a:pt x="6310757" y="2601087"/>
                    <a:pt x="6209792" y="2601087"/>
                  </a:cubicBezTo>
                  <a:lnTo>
                    <a:pt x="182880" y="2601087"/>
                  </a:lnTo>
                  <a:cubicBezTo>
                    <a:pt x="81915" y="2601087"/>
                    <a:pt x="0" y="2519172"/>
                    <a:pt x="0" y="2418207"/>
                  </a:cubicBezTo>
                  <a:close/>
                </a:path>
              </a:pathLst>
            </a:custGeom>
            <a:solidFill>
              <a:srgbClr val="080E26"/>
            </a:solidFill>
            <a:ln w="12700">
              <a:solidFill>
                <a:srgbClr val="000000"/>
              </a:solidFill>
            </a:ln>
          </p:spPr>
        </p:sp>
      </p:grpSp>
      <p:grpSp>
        <p:nvGrpSpPr>
          <p:cNvPr id="27" name="Group 27"/>
          <p:cNvGrpSpPr/>
          <p:nvPr/>
        </p:nvGrpSpPr>
        <p:grpSpPr>
          <a:xfrm>
            <a:off x="11775872" y="5487295"/>
            <a:ext cx="4794494" cy="114300"/>
            <a:chOff x="0" y="0"/>
            <a:chExt cx="6392659" cy="152400"/>
          </a:xfrm>
        </p:grpSpPr>
        <p:sp>
          <p:nvSpPr>
            <p:cNvPr id="28" name="Freeform 28"/>
            <p:cNvSpPr/>
            <p:nvPr/>
          </p:nvSpPr>
          <p:spPr>
            <a:xfrm>
              <a:off x="0" y="0"/>
              <a:ext cx="6392672" cy="152400"/>
            </a:xfrm>
            <a:custGeom>
              <a:avLst/>
              <a:gdLst/>
              <a:ahLst/>
              <a:cxnLst/>
              <a:rect l="l" t="t" r="r" b="b"/>
              <a:pathLst>
                <a:path w="6392672" h="152400">
                  <a:moveTo>
                    <a:pt x="0" y="76200"/>
                  </a:moveTo>
                  <a:cubicBezTo>
                    <a:pt x="0" y="34163"/>
                    <a:pt x="34163" y="0"/>
                    <a:pt x="76200" y="0"/>
                  </a:cubicBezTo>
                  <a:lnTo>
                    <a:pt x="6316472" y="0"/>
                  </a:lnTo>
                  <a:cubicBezTo>
                    <a:pt x="6358509" y="0"/>
                    <a:pt x="6392672" y="34163"/>
                    <a:pt x="6392672" y="76200"/>
                  </a:cubicBezTo>
                  <a:cubicBezTo>
                    <a:pt x="6392672" y="118237"/>
                    <a:pt x="6358509" y="152400"/>
                    <a:pt x="6316472" y="152400"/>
                  </a:cubicBezTo>
                  <a:lnTo>
                    <a:pt x="76200" y="152400"/>
                  </a:lnTo>
                  <a:cubicBezTo>
                    <a:pt x="34163" y="152400"/>
                    <a:pt x="0" y="118237"/>
                    <a:pt x="0" y="76200"/>
                  </a:cubicBezTo>
                  <a:close/>
                </a:path>
              </a:pathLst>
            </a:custGeom>
            <a:solidFill>
              <a:srgbClr val="8C98CA"/>
            </a:solidFill>
            <a:ln w="12700">
              <a:solidFill>
                <a:srgbClr val="000000"/>
              </a:solidFill>
            </a:ln>
          </p:spPr>
        </p:sp>
      </p:grpSp>
      <p:grpSp>
        <p:nvGrpSpPr>
          <p:cNvPr id="29" name="Group 29"/>
          <p:cNvGrpSpPr/>
          <p:nvPr/>
        </p:nvGrpSpPr>
        <p:grpSpPr>
          <a:xfrm>
            <a:off x="13820851" y="5163741"/>
            <a:ext cx="704402" cy="704402"/>
            <a:chOff x="0" y="0"/>
            <a:chExt cx="939203" cy="939203"/>
          </a:xfrm>
        </p:grpSpPr>
        <p:sp>
          <p:nvSpPr>
            <p:cNvPr id="30" name="Freeform 30"/>
            <p:cNvSpPr/>
            <p:nvPr/>
          </p:nvSpPr>
          <p:spPr>
            <a:xfrm>
              <a:off x="0" y="0"/>
              <a:ext cx="939165" cy="939165"/>
            </a:xfrm>
            <a:custGeom>
              <a:avLst/>
              <a:gdLst/>
              <a:ahLst/>
              <a:cxnLst/>
              <a:rect l="l" t="t" r="r" b="b"/>
              <a:pathLst>
                <a:path w="939165" h="939165">
                  <a:moveTo>
                    <a:pt x="0" y="469646"/>
                  </a:moveTo>
                  <a:cubicBezTo>
                    <a:pt x="0" y="210185"/>
                    <a:pt x="210185" y="0"/>
                    <a:pt x="469646" y="0"/>
                  </a:cubicBezTo>
                  <a:cubicBezTo>
                    <a:pt x="729107" y="0"/>
                    <a:pt x="939165" y="210185"/>
                    <a:pt x="939165" y="469646"/>
                  </a:cubicBezTo>
                  <a:cubicBezTo>
                    <a:pt x="939165" y="729107"/>
                    <a:pt x="728980" y="939165"/>
                    <a:pt x="469646" y="939165"/>
                  </a:cubicBezTo>
                  <a:cubicBezTo>
                    <a:pt x="210312" y="939165"/>
                    <a:pt x="0" y="728980"/>
                    <a:pt x="0" y="469646"/>
                  </a:cubicBezTo>
                  <a:close/>
                </a:path>
              </a:pathLst>
            </a:custGeom>
            <a:solidFill>
              <a:srgbClr val="8C98CA"/>
            </a:solidFill>
            <a:ln w="12700">
              <a:solidFill>
                <a:srgbClr val="000000"/>
              </a:solidFill>
            </a:ln>
          </p:spPr>
        </p:sp>
      </p:grpSp>
      <p:sp>
        <p:nvSpPr>
          <p:cNvPr id="31" name="TextBox 31"/>
          <p:cNvSpPr txBox="1"/>
          <p:nvPr/>
        </p:nvSpPr>
        <p:spPr>
          <a:xfrm>
            <a:off x="14032182" y="5254076"/>
            <a:ext cx="281730" cy="437855"/>
          </a:xfrm>
          <a:prstGeom prst="rect">
            <a:avLst/>
          </a:prstGeom>
        </p:spPr>
        <p:txBody>
          <a:bodyPr lIns="0" tIns="0" rIns="0" bIns="0" rtlCol="0" anchor="t">
            <a:spAutoFit/>
          </a:bodyPr>
          <a:lstStyle/>
          <a:p>
            <a:pPr algn="l">
              <a:lnSpc>
                <a:spcPts val="3500"/>
              </a:lnSpc>
            </a:pPr>
            <a:r>
              <a:rPr lang="en-US" sz="2187">
                <a:solidFill>
                  <a:srgbClr val="000000"/>
                </a:solidFill>
                <a:latin typeface="Fraunces"/>
                <a:ea typeface="Fraunces"/>
                <a:cs typeface="Fraunces"/>
                <a:sym typeface="Fraunces"/>
              </a:rPr>
              <a:t>3</a:t>
            </a:r>
          </a:p>
        </p:txBody>
      </p:sp>
      <p:sp>
        <p:nvSpPr>
          <p:cNvPr id="32" name="TextBox 32"/>
          <p:cNvSpPr txBox="1"/>
          <p:nvPr/>
        </p:nvSpPr>
        <p:spPr>
          <a:xfrm>
            <a:off x="12039152" y="6093323"/>
            <a:ext cx="4267943" cy="743245"/>
          </a:xfrm>
          <a:prstGeom prst="rect">
            <a:avLst/>
          </a:prstGeom>
        </p:spPr>
        <p:txBody>
          <a:bodyPr lIns="0" tIns="0" rIns="0" bIns="0" rtlCol="0" anchor="t">
            <a:spAutoFit/>
          </a:bodyPr>
          <a:lstStyle/>
          <a:p>
            <a:pPr algn="l">
              <a:lnSpc>
                <a:spcPts val="2875"/>
              </a:lnSpc>
            </a:pPr>
            <a:r>
              <a:rPr lang="en-US" sz="2249">
                <a:solidFill>
                  <a:srgbClr val="EBECEF"/>
                </a:solidFill>
                <a:latin typeface="Fraunces"/>
                <a:ea typeface="Fraunces"/>
                <a:cs typeface="Fraunces"/>
                <a:sym typeface="Fraunces"/>
              </a:rPr>
              <a:t>Pixel intensity normalization to stabilize training</a:t>
            </a:r>
          </a:p>
        </p:txBody>
      </p:sp>
      <p:grpSp>
        <p:nvGrpSpPr>
          <p:cNvPr id="33" name="Group 33"/>
          <p:cNvGrpSpPr/>
          <p:nvPr/>
        </p:nvGrpSpPr>
        <p:grpSpPr>
          <a:xfrm>
            <a:off x="1717472" y="8053540"/>
            <a:ext cx="7309094" cy="1583979"/>
            <a:chOff x="0" y="0"/>
            <a:chExt cx="9745459" cy="2111972"/>
          </a:xfrm>
        </p:grpSpPr>
        <p:sp>
          <p:nvSpPr>
            <p:cNvPr id="34" name="Freeform 34"/>
            <p:cNvSpPr/>
            <p:nvPr/>
          </p:nvSpPr>
          <p:spPr>
            <a:xfrm>
              <a:off x="0" y="0"/>
              <a:ext cx="9745473" cy="2112010"/>
            </a:xfrm>
            <a:custGeom>
              <a:avLst/>
              <a:gdLst/>
              <a:ahLst/>
              <a:cxnLst/>
              <a:rect l="l" t="t" r="r" b="b"/>
              <a:pathLst>
                <a:path w="9745473" h="2112010">
                  <a:moveTo>
                    <a:pt x="0" y="182880"/>
                  </a:moveTo>
                  <a:cubicBezTo>
                    <a:pt x="0" y="81915"/>
                    <a:pt x="81915" y="0"/>
                    <a:pt x="182880" y="0"/>
                  </a:cubicBezTo>
                  <a:lnTo>
                    <a:pt x="9562592" y="0"/>
                  </a:lnTo>
                  <a:cubicBezTo>
                    <a:pt x="9663557" y="0"/>
                    <a:pt x="9745473" y="81915"/>
                    <a:pt x="9745473" y="182880"/>
                  </a:cubicBezTo>
                  <a:lnTo>
                    <a:pt x="9745473" y="1929130"/>
                  </a:lnTo>
                  <a:cubicBezTo>
                    <a:pt x="9745473" y="2030095"/>
                    <a:pt x="9663557" y="2112010"/>
                    <a:pt x="9562592" y="2112010"/>
                  </a:cubicBezTo>
                  <a:lnTo>
                    <a:pt x="182880" y="2112010"/>
                  </a:lnTo>
                  <a:cubicBezTo>
                    <a:pt x="81915" y="2112010"/>
                    <a:pt x="0" y="2030095"/>
                    <a:pt x="0" y="1929130"/>
                  </a:cubicBezTo>
                  <a:close/>
                </a:path>
              </a:pathLst>
            </a:custGeom>
            <a:solidFill>
              <a:srgbClr val="080E26"/>
            </a:solidFill>
            <a:ln w="12700">
              <a:solidFill>
                <a:srgbClr val="000000"/>
              </a:solidFill>
            </a:ln>
          </p:spPr>
        </p:sp>
      </p:grpSp>
      <p:grpSp>
        <p:nvGrpSpPr>
          <p:cNvPr id="35" name="Group 35"/>
          <p:cNvGrpSpPr/>
          <p:nvPr/>
        </p:nvGrpSpPr>
        <p:grpSpPr>
          <a:xfrm>
            <a:off x="1717472" y="8024965"/>
            <a:ext cx="7309094" cy="114300"/>
            <a:chOff x="0" y="0"/>
            <a:chExt cx="9745459" cy="152400"/>
          </a:xfrm>
        </p:grpSpPr>
        <p:sp>
          <p:nvSpPr>
            <p:cNvPr id="36" name="Freeform 36"/>
            <p:cNvSpPr/>
            <p:nvPr/>
          </p:nvSpPr>
          <p:spPr>
            <a:xfrm>
              <a:off x="0" y="0"/>
              <a:ext cx="9745472" cy="152400"/>
            </a:xfrm>
            <a:custGeom>
              <a:avLst/>
              <a:gdLst/>
              <a:ahLst/>
              <a:cxnLst/>
              <a:rect l="l" t="t" r="r" b="b"/>
              <a:pathLst>
                <a:path w="9745472" h="152400">
                  <a:moveTo>
                    <a:pt x="0" y="76200"/>
                  </a:moveTo>
                  <a:cubicBezTo>
                    <a:pt x="0" y="34163"/>
                    <a:pt x="34163" y="0"/>
                    <a:pt x="76200" y="0"/>
                  </a:cubicBezTo>
                  <a:lnTo>
                    <a:pt x="9669272" y="0"/>
                  </a:lnTo>
                  <a:cubicBezTo>
                    <a:pt x="9711309" y="0"/>
                    <a:pt x="9745472" y="34163"/>
                    <a:pt x="9745472" y="76200"/>
                  </a:cubicBezTo>
                  <a:cubicBezTo>
                    <a:pt x="9745472" y="118237"/>
                    <a:pt x="9711309" y="152400"/>
                    <a:pt x="9669272" y="152400"/>
                  </a:cubicBezTo>
                  <a:lnTo>
                    <a:pt x="76200" y="152400"/>
                  </a:lnTo>
                  <a:cubicBezTo>
                    <a:pt x="34163" y="152400"/>
                    <a:pt x="0" y="118237"/>
                    <a:pt x="0" y="76200"/>
                  </a:cubicBezTo>
                  <a:close/>
                </a:path>
              </a:pathLst>
            </a:custGeom>
            <a:solidFill>
              <a:srgbClr val="8C98CA"/>
            </a:solidFill>
            <a:ln w="12700">
              <a:solidFill>
                <a:srgbClr val="000000"/>
              </a:solidFill>
            </a:ln>
          </p:spPr>
        </p:sp>
      </p:grpSp>
      <p:grpSp>
        <p:nvGrpSpPr>
          <p:cNvPr id="37" name="Group 37"/>
          <p:cNvGrpSpPr/>
          <p:nvPr/>
        </p:nvGrpSpPr>
        <p:grpSpPr>
          <a:xfrm>
            <a:off x="5019751" y="7701410"/>
            <a:ext cx="704402" cy="704402"/>
            <a:chOff x="0" y="0"/>
            <a:chExt cx="939203" cy="939203"/>
          </a:xfrm>
        </p:grpSpPr>
        <p:sp>
          <p:nvSpPr>
            <p:cNvPr id="38" name="Freeform 38"/>
            <p:cNvSpPr/>
            <p:nvPr/>
          </p:nvSpPr>
          <p:spPr>
            <a:xfrm>
              <a:off x="0" y="0"/>
              <a:ext cx="939165" cy="939165"/>
            </a:xfrm>
            <a:custGeom>
              <a:avLst/>
              <a:gdLst/>
              <a:ahLst/>
              <a:cxnLst/>
              <a:rect l="l" t="t" r="r" b="b"/>
              <a:pathLst>
                <a:path w="939165" h="939165">
                  <a:moveTo>
                    <a:pt x="0" y="469646"/>
                  </a:moveTo>
                  <a:cubicBezTo>
                    <a:pt x="0" y="210185"/>
                    <a:pt x="210185" y="0"/>
                    <a:pt x="469646" y="0"/>
                  </a:cubicBezTo>
                  <a:cubicBezTo>
                    <a:pt x="729107" y="0"/>
                    <a:pt x="939165" y="210185"/>
                    <a:pt x="939165" y="469646"/>
                  </a:cubicBezTo>
                  <a:cubicBezTo>
                    <a:pt x="939165" y="729107"/>
                    <a:pt x="728980" y="939165"/>
                    <a:pt x="469646" y="939165"/>
                  </a:cubicBezTo>
                  <a:cubicBezTo>
                    <a:pt x="210312" y="939165"/>
                    <a:pt x="0" y="728980"/>
                    <a:pt x="0" y="469646"/>
                  </a:cubicBezTo>
                  <a:close/>
                </a:path>
              </a:pathLst>
            </a:custGeom>
            <a:solidFill>
              <a:srgbClr val="8C98CA"/>
            </a:solidFill>
            <a:ln w="12700">
              <a:solidFill>
                <a:srgbClr val="000000"/>
              </a:solidFill>
            </a:ln>
          </p:spPr>
        </p:sp>
      </p:grpSp>
      <p:sp>
        <p:nvSpPr>
          <p:cNvPr id="39" name="TextBox 39"/>
          <p:cNvSpPr txBox="1"/>
          <p:nvPr/>
        </p:nvSpPr>
        <p:spPr>
          <a:xfrm>
            <a:off x="5231082" y="7791745"/>
            <a:ext cx="281730" cy="437855"/>
          </a:xfrm>
          <a:prstGeom prst="rect">
            <a:avLst/>
          </a:prstGeom>
        </p:spPr>
        <p:txBody>
          <a:bodyPr lIns="0" tIns="0" rIns="0" bIns="0" rtlCol="0" anchor="t">
            <a:spAutoFit/>
          </a:bodyPr>
          <a:lstStyle/>
          <a:p>
            <a:pPr algn="l">
              <a:lnSpc>
                <a:spcPts val="3500"/>
              </a:lnSpc>
            </a:pPr>
            <a:r>
              <a:rPr lang="en-US" sz="2187">
                <a:solidFill>
                  <a:srgbClr val="000000"/>
                </a:solidFill>
                <a:latin typeface="Fraunces"/>
                <a:ea typeface="Fraunces"/>
                <a:cs typeface="Fraunces"/>
                <a:sym typeface="Fraunces"/>
              </a:rPr>
              <a:t>4</a:t>
            </a:r>
          </a:p>
        </p:txBody>
      </p:sp>
      <p:sp>
        <p:nvSpPr>
          <p:cNvPr id="40" name="TextBox 40"/>
          <p:cNvSpPr txBox="1"/>
          <p:nvPr/>
        </p:nvSpPr>
        <p:spPr>
          <a:xfrm>
            <a:off x="1980752" y="8630993"/>
            <a:ext cx="6782543" cy="743245"/>
          </a:xfrm>
          <a:prstGeom prst="rect">
            <a:avLst/>
          </a:prstGeom>
        </p:spPr>
        <p:txBody>
          <a:bodyPr lIns="0" tIns="0" rIns="0" bIns="0" rtlCol="0" anchor="t">
            <a:spAutoFit/>
          </a:bodyPr>
          <a:lstStyle/>
          <a:p>
            <a:pPr algn="l">
              <a:lnSpc>
                <a:spcPts val="2875"/>
              </a:lnSpc>
            </a:pPr>
            <a:r>
              <a:rPr lang="en-US" sz="2249">
                <a:solidFill>
                  <a:srgbClr val="EBECEF"/>
                </a:solidFill>
                <a:latin typeface="Fraunces"/>
                <a:ea typeface="Fraunces"/>
                <a:cs typeface="Fraunces"/>
                <a:sym typeface="Fraunces"/>
              </a:rPr>
              <a:t>Dedicated handling of high-resolution TIFF images</a:t>
            </a:r>
          </a:p>
        </p:txBody>
      </p:sp>
      <p:grpSp>
        <p:nvGrpSpPr>
          <p:cNvPr id="41" name="Group 41"/>
          <p:cNvGrpSpPr/>
          <p:nvPr/>
        </p:nvGrpSpPr>
        <p:grpSpPr>
          <a:xfrm>
            <a:off x="9261272" y="8053540"/>
            <a:ext cx="7309094" cy="1583979"/>
            <a:chOff x="0" y="0"/>
            <a:chExt cx="9745459" cy="2111972"/>
          </a:xfrm>
        </p:grpSpPr>
        <p:sp>
          <p:nvSpPr>
            <p:cNvPr id="42" name="Freeform 42"/>
            <p:cNvSpPr/>
            <p:nvPr/>
          </p:nvSpPr>
          <p:spPr>
            <a:xfrm>
              <a:off x="0" y="0"/>
              <a:ext cx="9745473" cy="2112010"/>
            </a:xfrm>
            <a:custGeom>
              <a:avLst/>
              <a:gdLst/>
              <a:ahLst/>
              <a:cxnLst/>
              <a:rect l="l" t="t" r="r" b="b"/>
              <a:pathLst>
                <a:path w="9745473" h="2112010">
                  <a:moveTo>
                    <a:pt x="0" y="182880"/>
                  </a:moveTo>
                  <a:cubicBezTo>
                    <a:pt x="0" y="81915"/>
                    <a:pt x="81915" y="0"/>
                    <a:pt x="182880" y="0"/>
                  </a:cubicBezTo>
                  <a:lnTo>
                    <a:pt x="9562592" y="0"/>
                  </a:lnTo>
                  <a:cubicBezTo>
                    <a:pt x="9663557" y="0"/>
                    <a:pt x="9745473" y="81915"/>
                    <a:pt x="9745473" y="182880"/>
                  </a:cubicBezTo>
                  <a:lnTo>
                    <a:pt x="9745473" y="1929130"/>
                  </a:lnTo>
                  <a:cubicBezTo>
                    <a:pt x="9745473" y="2030095"/>
                    <a:pt x="9663557" y="2112010"/>
                    <a:pt x="9562592" y="2112010"/>
                  </a:cubicBezTo>
                  <a:lnTo>
                    <a:pt x="182880" y="2112010"/>
                  </a:lnTo>
                  <a:cubicBezTo>
                    <a:pt x="81915" y="2112010"/>
                    <a:pt x="0" y="2030095"/>
                    <a:pt x="0" y="1929130"/>
                  </a:cubicBezTo>
                  <a:close/>
                </a:path>
              </a:pathLst>
            </a:custGeom>
            <a:solidFill>
              <a:srgbClr val="080E26"/>
            </a:solidFill>
            <a:ln w="12700">
              <a:solidFill>
                <a:srgbClr val="000000"/>
              </a:solidFill>
            </a:ln>
          </p:spPr>
        </p:sp>
      </p:grpSp>
      <p:grpSp>
        <p:nvGrpSpPr>
          <p:cNvPr id="43" name="Group 43"/>
          <p:cNvGrpSpPr/>
          <p:nvPr/>
        </p:nvGrpSpPr>
        <p:grpSpPr>
          <a:xfrm>
            <a:off x="9261272" y="8024965"/>
            <a:ext cx="7309094" cy="114300"/>
            <a:chOff x="0" y="0"/>
            <a:chExt cx="9745459" cy="152400"/>
          </a:xfrm>
        </p:grpSpPr>
        <p:sp>
          <p:nvSpPr>
            <p:cNvPr id="44" name="Freeform 44"/>
            <p:cNvSpPr/>
            <p:nvPr/>
          </p:nvSpPr>
          <p:spPr>
            <a:xfrm>
              <a:off x="0" y="0"/>
              <a:ext cx="9745472" cy="152400"/>
            </a:xfrm>
            <a:custGeom>
              <a:avLst/>
              <a:gdLst/>
              <a:ahLst/>
              <a:cxnLst/>
              <a:rect l="l" t="t" r="r" b="b"/>
              <a:pathLst>
                <a:path w="9745472" h="152400">
                  <a:moveTo>
                    <a:pt x="0" y="76200"/>
                  </a:moveTo>
                  <a:cubicBezTo>
                    <a:pt x="0" y="34163"/>
                    <a:pt x="34163" y="0"/>
                    <a:pt x="76200" y="0"/>
                  </a:cubicBezTo>
                  <a:lnTo>
                    <a:pt x="9669272" y="0"/>
                  </a:lnTo>
                  <a:cubicBezTo>
                    <a:pt x="9711309" y="0"/>
                    <a:pt x="9745472" y="34163"/>
                    <a:pt x="9745472" y="76200"/>
                  </a:cubicBezTo>
                  <a:cubicBezTo>
                    <a:pt x="9745472" y="118237"/>
                    <a:pt x="9711309" y="152400"/>
                    <a:pt x="9669272" y="152400"/>
                  </a:cubicBezTo>
                  <a:lnTo>
                    <a:pt x="76200" y="152400"/>
                  </a:lnTo>
                  <a:cubicBezTo>
                    <a:pt x="34163" y="152400"/>
                    <a:pt x="0" y="118237"/>
                    <a:pt x="0" y="76200"/>
                  </a:cubicBezTo>
                  <a:close/>
                </a:path>
              </a:pathLst>
            </a:custGeom>
            <a:solidFill>
              <a:srgbClr val="8C98CA"/>
            </a:solidFill>
            <a:ln w="12700">
              <a:solidFill>
                <a:srgbClr val="000000"/>
              </a:solidFill>
            </a:ln>
          </p:spPr>
        </p:sp>
      </p:grpSp>
      <p:grpSp>
        <p:nvGrpSpPr>
          <p:cNvPr id="45" name="Group 45"/>
          <p:cNvGrpSpPr/>
          <p:nvPr/>
        </p:nvGrpSpPr>
        <p:grpSpPr>
          <a:xfrm>
            <a:off x="12563551" y="7701410"/>
            <a:ext cx="704402" cy="704402"/>
            <a:chOff x="0" y="0"/>
            <a:chExt cx="939203" cy="939203"/>
          </a:xfrm>
        </p:grpSpPr>
        <p:sp>
          <p:nvSpPr>
            <p:cNvPr id="46" name="Freeform 46"/>
            <p:cNvSpPr/>
            <p:nvPr/>
          </p:nvSpPr>
          <p:spPr>
            <a:xfrm>
              <a:off x="0" y="0"/>
              <a:ext cx="939165" cy="939165"/>
            </a:xfrm>
            <a:custGeom>
              <a:avLst/>
              <a:gdLst/>
              <a:ahLst/>
              <a:cxnLst/>
              <a:rect l="l" t="t" r="r" b="b"/>
              <a:pathLst>
                <a:path w="939165" h="939165">
                  <a:moveTo>
                    <a:pt x="0" y="469646"/>
                  </a:moveTo>
                  <a:cubicBezTo>
                    <a:pt x="0" y="210185"/>
                    <a:pt x="210185" y="0"/>
                    <a:pt x="469646" y="0"/>
                  </a:cubicBezTo>
                  <a:cubicBezTo>
                    <a:pt x="729107" y="0"/>
                    <a:pt x="939165" y="210185"/>
                    <a:pt x="939165" y="469646"/>
                  </a:cubicBezTo>
                  <a:cubicBezTo>
                    <a:pt x="939165" y="729107"/>
                    <a:pt x="728980" y="939165"/>
                    <a:pt x="469646" y="939165"/>
                  </a:cubicBezTo>
                  <a:cubicBezTo>
                    <a:pt x="210312" y="939165"/>
                    <a:pt x="0" y="728980"/>
                    <a:pt x="0" y="469646"/>
                  </a:cubicBezTo>
                  <a:close/>
                </a:path>
              </a:pathLst>
            </a:custGeom>
            <a:solidFill>
              <a:srgbClr val="8C98CA"/>
            </a:solidFill>
            <a:ln w="12700">
              <a:solidFill>
                <a:srgbClr val="000000"/>
              </a:solidFill>
            </a:ln>
          </p:spPr>
        </p:sp>
      </p:grpSp>
      <p:sp>
        <p:nvSpPr>
          <p:cNvPr id="47" name="TextBox 47"/>
          <p:cNvSpPr txBox="1"/>
          <p:nvPr/>
        </p:nvSpPr>
        <p:spPr>
          <a:xfrm>
            <a:off x="12774882" y="7791745"/>
            <a:ext cx="281730" cy="437855"/>
          </a:xfrm>
          <a:prstGeom prst="rect">
            <a:avLst/>
          </a:prstGeom>
        </p:spPr>
        <p:txBody>
          <a:bodyPr lIns="0" tIns="0" rIns="0" bIns="0" rtlCol="0" anchor="t">
            <a:spAutoFit/>
          </a:bodyPr>
          <a:lstStyle/>
          <a:p>
            <a:pPr algn="l">
              <a:lnSpc>
                <a:spcPts val="3500"/>
              </a:lnSpc>
            </a:pPr>
            <a:r>
              <a:rPr lang="en-US" sz="2187">
                <a:solidFill>
                  <a:srgbClr val="000000"/>
                </a:solidFill>
                <a:latin typeface="Fraunces"/>
                <a:ea typeface="Fraunces"/>
                <a:cs typeface="Fraunces"/>
                <a:sym typeface="Fraunces"/>
              </a:rPr>
              <a:t>5</a:t>
            </a:r>
          </a:p>
        </p:txBody>
      </p:sp>
      <p:sp>
        <p:nvSpPr>
          <p:cNvPr id="48" name="TextBox 48"/>
          <p:cNvSpPr txBox="1"/>
          <p:nvPr/>
        </p:nvSpPr>
        <p:spPr>
          <a:xfrm>
            <a:off x="9524552" y="8630993"/>
            <a:ext cx="6782543" cy="743245"/>
          </a:xfrm>
          <a:prstGeom prst="rect">
            <a:avLst/>
          </a:prstGeom>
        </p:spPr>
        <p:txBody>
          <a:bodyPr lIns="0" tIns="0" rIns="0" bIns="0" rtlCol="0" anchor="t">
            <a:spAutoFit/>
          </a:bodyPr>
          <a:lstStyle/>
          <a:p>
            <a:pPr algn="l">
              <a:lnSpc>
                <a:spcPts val="2875"/>
              </a:lnSpc>
            </a:pPr>
            <a:r>
              <a:rPr lang="en-US" sz="2249">
                <a:solidFill>
                  <a:srgbClr val="EBECEF"/>
                </a:solidFill>
                <a:latin typeface="Fraunces"/>
                <a:ea typeface="Fraunces"/>
                <a:cs typeface="Fraunces"/>
                <a:sym typeface="Fraunces"/>
              </a:rPr>
              <a:t>Dataset-wide verification to avoid preprocessing bias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A8AFCC"/>
            </a:solidFill>
            <a:ln w="12700">
              <a:solidFill>
                <a:srgbClr val="000000"/>
              </a:solidFill>
            </a:ln>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80E26"/>
            </a:solidFill>
            <a:ln w="12700">
              <a:solidFill>
                <a:srgbClr val="000000"/>
              </a:solidFill>
            </a:ln>
          </p:spPr>
        </p:sp>
      </p:grpSp>
      <p:sp>
        <p:nvSpPr>
          <p:cNvPr id="6" name="Freeform 6" descr="preencoded.png"/>
          <p:cNvSpPr/>
          <p:nvPr/>
        </p:nvSpPr>
        <p:spPr>
          <a:xfrm>
            <a:off x="11430000" y="0"/>
            <a:ext cx="6858000" cy="10287000"/>
          </a:xfrm>
          <a:custGeom>
            <a:avLst/>
            <a:gdLst/>
            <a:ahLst/>
            <a:cxnLst/>
            <a:rect l="l" t="t" r="r" b="b"/>
            <a:pathLst>
              <a:path w="6858000" h="10287000">
                <a:moveTo>
                  <a:pt x="0" y="0"/>
                </a:moveTo>
                <a:lnTo>
                  <a:pt x="6858000" y="0"/>
                </a:lnTo>
                <a:lnTo>
                  <a:pt x="6858000" y="10287000"/>
                </a:lnTo>
                <a:lnTo>
                  <a:pt x="0" y="10287000"/>
                </a:lnTo>
                <a:lnTo>
                  <a:pt x="0" y="0"/>
                </a:lnTo>
                <a:close/>
              </a:path>
            </a:pathLst>
          </a:custGeom>
          <a:blipFill>
            <a:blip r:embed="rId3"/>
            <a:stretch>
              <a:fillRect/>
            </a:stretch>
          </a:blipFill>
        </p:spPr>
      </p:sp>
      <p:sp>
        <p:nvSpPr>
          <p:cNvPr id="7" name="TextBox 7"/>
          <p:cNvSpPr txBox="1"/>
          <p:nvPr/>
        </p:nvSpPr>
        <p:spPr>
          <a:xfrm>
            <a:off x="992238" y="2587076"/>
            <a:ext cx="9445523" cy="1436484"/>
          </a:xfrm>
          <a:prstGeom prst="rect">
            <a:avLst/>
          </a:prstGeom>
        </p:spPr>
        <p:txBody>
          <a:bodyPr lIns="0" tIns="0" rIns="0" bIns="0" rtlCol="0" anchor="t">
            <a:spAutoFit/>
          </a:bodyPr>
          <a:lstStyle/>
          <a:p>
            <a:pPr algn="l">
              <a:lnSpc>
                <a:spcPts val="5562"/>
              </a:lnSpc>
            </a:pPr>
            <a:r>
              <a:rPr lang="en-US" sz="4437">
                <a:solidFill>
                  <a:srgbClr val="FFFFFF"/>
                </a:solidFill>
                <a:latin typeface="Fraunces"/>
                <a:ea typeface="Fraunces"/>
                <a:cs typeface="Fraunces"/>
                <a:sym typeface="Fraunces"/>
              </a:rPr>
              <a:t>Classical Machine Learning Approach</a:t>
            </a:r>
          </a:p>
        </p:txBody>
      </p:sp>
      <p:sp>
        <p:nvSpPr>
          <p:cNvPr id="8" name="TextBox 8"/>
          <p:cNvSpPr txBox="1"/>
          <p:nvPr/>
        </p:nvSpPr>
        <p:spPr>
          <a:xfrm>
            <a:off x="992238" y="4117924"/>
            <a:ext cx="4760566" cy="550659"/>
          </a:xfrm>
          <a:prstGeom prst="rect">
            <a:avLst/>
          </a:prstGeom>
        </p:spPr>
        <p:txBody>
          <a:bodyPr lIns="0" tIns="0" rIns="0" bIns="0" rtlCol="0" anchor="t">
            <a:spAutoFit/>
          </a:bodyPr>
          <a:lstStyle/>
          <a:p>
            <a:pPr algn="l">
              <a:lnSpc>
                <a:spcPts val="4125"/>
              </a:lnSpc>
            </a:pPr>
            <a:r>
              <a:rPr lang="en-US" sz="3312">
                <a:solidFill>
                  <a:srgbClr val="FFFFFF"/>
                </a:solidFill>
                <a:latin typeface="Fraunces"/>
                <a:ea typeface="Fraunces"/>
                <a:cs typeface="Fraunces"/>
                <a:sym typeface="Fraunces"/>
              </a:rPr>
              <a:t>Feature Representation</a:t>
            </a:r>
          </a:p>
        </p:txBody>
      </p:sp>
      <p:sp>
        <p:nvSpPr>
          <p:cNvPr id="9" name="TextBox 9"/>
          <p:cNvSpPr txBox="1"/>
          <p:nvPr/>
        </p:nvSpPr>
        <p:spPr>
          <a:xfrm>
            <a:off x="992238" y="4989014"/>
            <a:ext cx="9445523" cy="1465659"/>
          </a:xfrm>
          <a:prstGeom prst="rect">
            <a:avLst/>
          </a:prstGeom>
        </p:spPr>
        <p:txBody>
          <a:bodyPr lIns="0" tIns="0" rIns="0" bIns="0" rtlCol="0" anchor="t">
            <a:spAutoFit/>
          </a:bodyPr>
          <a:lstStyle/>
          <a:p>
            <a:pPr algn="l">
              <a:lnSpc>
                <a:spcPts val="3562"/>
              </a:lnSpc>
            </a:pPr>
            <a:r>
              <a:rPr lang="en-US" sz="2187">
                <a:solidFill>
                  <a:srgbClr val="EBECEF"/>
                </a:solidFill>
                <a:latin typeface="Arimo"/>
                <a:ea typeface="Arimo"/>
                <a:cs typeface="Arimo"/>
                <a:sym typeface="Arimo"/>
              </a:rPr>
              <a:t>Local texture descriptors were computed to capture scanner-induced micro-level variations present in background regions of scanned documents.</a:t>
            </a:r>
          </a:p>
        </p:txBody>
      </p:sp>
      <p:sp>
        <p:nvSpPr>
          <p:cNvPr id="10" name="TextBox 10"/>
          <p:cNvSpPr txBox="1"/>
          <p:nvPr/>
        </p:nvSpPr>
        <p:spPr>
          <a:xfrm>
            <a:off x="992238" y="6668843"/>
            <a:ext cx="9445523" cy="1012031"/>
          </a:xfrm>
          <a:prstGeom prst="rect">
            <a:avLst/>
          </a:prstGeom>
        </p:spPr>
        <p:txBody>
          <a:bodyPr lIns="0" tIns="0" rIns="0" bIns="0" rtlCol="0" anchor="t">
            <a:spAutoFit/>
          </a:bodyPr>
          <a:lstStyle/>
          <a:p>
            <a:pPr algn="l">
              <a:lnSpc>
                <a:spcPts val="3562"/>
              </a:lnSpc>
            </a:pPr>
            <a:r>
              <a:rPr lang="en-US" sz="2187">
                <a:solidFill>
                  <a:srgbClr val="EBECEF"/>
                </a:solidFill>
                <a:latin typeface="Arimo"/>
                <a:ea typeface="Arimo"/>
                <a:cs typeface="Arimo"/>
                <a:sym typeface="Arimo"/>
              </a:rPr>
              <a:t>These descriptors are effective in representing fine-grained noise structures introduced during scanning.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A8AFCC"/>
            </a:solidFill>
            <a:ln w="12700">
              <a:solidFill>
                <a:srgbClr val="000000"/>
              </a:solidFill>
            </a:ln>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80E26"/>
            </a:solidFill>
            <a:ln w="12700">
              <a:solidFill>
                <a:srgbClr val="000000"/>
              </a:solidFill>
            </a:ln>
          </p:spPr>
        </p:sp>
      </p:grpSp>
      <p:sp>
        <p:nvSpPr>
          <p:cNvPr id="6" name="TextBox 6"/>
          <p:cNvSpPr txBox="1"/>
          <p:nvPr/>
        </p:nvSpPr>
        <p:spPr>
          <a:xfrm>
            <a:off x="992238" y="1815408"/>
            <a:ext cx="6819157" cy="727767"/>
          </a:xfrm>
          <a:prstGeom prst="rect">
            <a:avLst/>
          </a:prstGeom>
        </p:spPr>
        <p:txBody>
          <a:bodyPr lIns="0" tIns="0" rIns="0" bIns="0" rtlCol="0" anchor="t">
            <a:spAutoFit/>
          </a:bodyPr>
          <a:lstStyle/>
          <a:p>
            <a:pPr algn="l">
              <a:lnSpc>
                <a:spcPts val="5562"/>
              </a:lnSpc>
            </a:pPr>
            <a:r>
              <a:rPr lang="en-US" sz="4437">
                <a:solidFill>
                  <a:srgbClr val="FFFFFF"/>
                </a:solidFill>
                <a:latin typeface="Fraunces"/>
                <a:ea typeface="Fraunces"/>
                <a:cs typeface="Fraunces"/>
                <a:sym typeface="Fraunces"/>
              </a:rPr>
              <a:t>Random Forest Classifier</a:t>
            </a:r>
          </a:p>
        </p:txBody>
      </p:sp>
      <p:grpSp>
        <p:nvGrpSpPr>
          <p:cNvPr id="7" name="Group 7"/>
          <p:cNvGrpSpPr/>
          <p:nvPr/>
        </p:nvGrpSpPr>
        <p:grpSpPr>
          <a:xfrm>
            <a:off x="973188" y="3091158"/>
            <a:ext cx="8048034" cy="5380434"/>
            <a:chOff x="0" y="0"/>
            <a:chExt cx="10730713" cy="7173912"/>
          </a:xfrm>
        </p:grpSpPr>
        <p:sp>
          <p:nvSpPr>
            <p:cNvPr id="8" name="Freeform 8"/>
            <p:cNvSpPr/>
            <p:nvPr/>
          </p:nvSpPr>
          <p:spPr>
            <a:xfrm>
              <a:off x="25400" y="25400"/>
              <a:ext cx="10679811" cy="7123176"/>
            </a:xfrm>
            <a:custGeom>
              <a:avLst/>
              <a:gdLst/>
              <a:ahLst/>
              <a:cxnLst/>
              <a:rect l="l" t="t" r="r" b="b"/>
              <a:pathLst>
                <a:path w="10679811" h="7123176">
                  <a:moveTo>
                    <a:pt x="0" y="243840"/>
                  </a:moveTo>
                  <a:cubicBezTo>
                    <a:pt x="0" y="109220"/>
                    <a:pt x="109474" y="0"/>
                    <a:pt x="244348" y="0"/>
                  </a:cubicBezTo>
                  <a:lnTo>
                    <a:pt x="10435463" y="0"/>
                  </a:lnTo>
                  <a:cubicBezTo>
                    <a:pt x="10570464" y="0"/>
                    <a:pt x="10679811" y="109220"/>
                    <a:pt x="10679811" y="243840"/>
                  </a:cubicBezTo>
                  <a:lnTo>
                    <a:pt x="10679811" y="6879336"/>
                  </a:lnTo>
                  <a:cubicBezTo>
                    <a:pt x="10679811" y="7013956"/>
                    <a:pt x="10570337" y="7123176"/>
                    <a:pt x="10435463" y="7123176"/>
                  </a:cubicBezTo>
                  <a:lnTo>
                    <a:pt x="244348" y="7123176"/>
                  </a:lnTo>
                  <a:cubicBezTo>
                    <a:pt x="109347" y="7123176"/>
                    <a:pt x="0" y="7013956"/>
                    <a:pt x="0" y="6879336"/>
                  </a:cubicBezTo>
                  <a:close/>
                </a:path>
              </a:pathLst>
            </a:custGeom>
            <a:solidFill>
              <a:srgbClr val="080E26"/>
            </a:solidFill>
            <a:ln w="12700">
              <a:solidFill>
                <a:srgbClr val="000000"/>
              </a:solidFill>
            </a:ln>
          </p:spPr>
        </p:sp>
        <p:sp>
          <p:nvSpPr>
            <p:cNvPr id="9" name="Freeform 9"/>
            <p:cNvSpPr/>
            <p:nvPr/>
          </p:nvSpPr>
          <p:spPr>
            <a:xfrm>
              <a:off x="0" y="0"/>
              <a:ext cx="10730611" cy="7173976"/>
            </a:xfrm>
            <a:custGeom>
              <a:avLst/>
              <a:gdLst/>
              <a:ahLst/>
              <a:cxnLst/>
              <a:rect l="l" t="t" r="r" b="b"/>
              <a:pathLst>
                <a:path w="10730611" h="7173976">
                  <a:moveTo>
                    <a:pt x="0" y="269240"/>
                  </a:moveTo>
                  <a:cubicBezTo>
                    <a:pt x="0" y="120523"/>
                    <a:pt x="120904" y="0"/>
                    <a:pt x="269748" y="0"/>
                  </a:cubicBezTo>
                  <a:lnTo>
                    <a:pt x="10460863" y="0"/>
                  </a:lnTo>
                  <a:lnTo>
                    <a:pt x="10460863" y="25400"/>
                  </a:lnTo>
                  <a:lnTo>
                    <a:pt x="10460863" y="0"/>
                  </a:lnTo>
                  <a:cubicBezTo>
                    <a:pt x="10609834" y="0"/>
                    <a:pt x="10730611" y="120523"/>
                    <a:pt x="10730611" y="269240"/>
                  </a:cubicBezTo>
                  <a:lnTo>
                    <a:pt x="10705211" y="269240"/>
                  </a:lnTo>
                  <a:lnTo>
                    <a:pt x="10730611" y="269240"/>
                  </a:lnTo>
                  <a:lnTo>
                    <a:pt x="10730611" y="6904736"/>
                  </a:lnTo>
                  <a:lnTo>
                    <a:pt x="10705211" y="6904736"/>
                  </a:lnTo>
                  <a:lnTo>
                    <a:pt x="10730611" y="6904736"/>
                  </a:lnTo>
                  <a:cubicBezTo>
                    <a:pt x="10730611" y="7053453"/>
                    <a:pt x="10609707" y="7173976"/>
                    <a:pt x="10460863" y="7173976"/>
                  </a:cubicBezTo>
                  <a:lnTo>
                    <a:pt x="10460863" y="7148576"/>
                  </a:lnTo>
                  <a:lnTo>
                    <a:pt x="10460863" y="7173976"/>
                  </a:lnTo>
                  <a:lnTo>
                    <a:pt x="269748" y="7173976"/>
                  </a:lnTo>
                  <a:lnTo>
                    <a:pt x="269748" y="7148576"/>
                  </a:lnTo>
                  <a:lnTo>
                    <a:pt x="269748" y="7173976"/>
                  </a:lnTo>
                  <a:cubicBezTo>
                    <a:pt x="120904" y="7173976"/>
                    <a:pt x="0" y="7053453"/>
                    <a:pt x="0" y="6904736"/>
                  </a:cubicBezTo>
                  <a:lnTo>
                    <a:pt x="0" y="269240"/>
                  </a:lnTo>
                  <a:lnTo>
                    <a:pt x="25400" y="269240"/>
                  </a:lnTo>
                  <a:lnTo>
                    <a:pt x="0" y="269240"/>
                  </a:lnTo>
                  <a:moveTo>
                    <a:pt x="50800" y="269240"/>
                  </a:moveTo>
                  <a:lnTo>
                    <a:pt x="50800" y="6904736"/>
                  </a:lnTo>
                  <a:lnTo>
                    <a:pt x="25400" y="6904736"/>
                  </a:lnTo>
                  <a:lnTo>
                    <a:pt x="50800" y="6904736"/>
                  </a:lnTo>
                  <a:cubicBezTo>
                    <a:pt x="50800" y="7025259"/>
                    <a:pt x="148844" y="7123176"/>
                    <a:pt x="269748" y="7123176"/>
                  </a:cubicBezTo>
                  <a:lnTo>
                    <a:pt x="10460863" y="7123176"/>
                  </a:lnTo>
                  <a:cubicBezTo>
                    <a:pt x="10581894" y="7123176"/>
                    <a:pt x="10679811" y="7025386"/>
                    <a:pt x="10679811" y="6904736"/>
                  </a:cubicBezTo>
                  <a:lnTo>
                    <a:pt x="10679811" y="269240"/>
                  </a:lnTo>
                  <a:cubicBezTo>
                    <a:pt x="10679811" y="148717"/>
                    <a:pt x="10581767" y="50800"/>
                    <a:pt x="10460863" y="50800"/>
                  </a:cubicBezTo>
                  <a:lnTo>
                    <a:pt x="269748" y="50800"/>
                  </a:lnTo>
                  <a:lnTo>
                    <a:pt x="269748" y="25400"/>
                  </a:lnTo>
                  <a:lnTo>
                    <a:pt x="269748" y="50800"/>
                  </a:lnTo>
                  <a:cubicBezTo>
                    <a:pt x="148844" y="50800"/>
                    <a:pt x="50800" y="148590"/>
                    <a:pt x="50800" y="269240"/>
                  </a:cubicBezTo>
                  <a:close/>
                </a:path>
              </a:pathLst>
            </a:custGeom>
            <a:solidFill>
              <a:srgbClr val="414A70"/>
            </a:solidFill>
            <a:ln w="12700">
              <a:solidFill>
                <a:srgbClr val="000000"/>
              </a:solidFill>
            </a:ln>
          </p:spPr>
        </p:sp>
      </p:grpSp>
      <p:grpSp>
        <p:nvGrpSpPr>
          <p:cNvPr id="10" name="Group 10"/>
          <p:cNvGrpSpPr/>
          <p:nvPr/>
        </p:nvGrpSpPr>
        <p:grpSpPr>
          <a:xfrm>
            <a:off x="954138" y="3110208"/>
            <a:ext cx="152400" cy="5342334"/>
            <a:chOff x="0" y="0"/>
            <a:chExt cx="203200" cy="7123112"/>
          </a:xfrm>
        </p:grpSpPr>
        <p:sp>
          <p:nvSpPr>
            <p:cNvPr id="11" name="Freeform 11"/>
            <p:cNvSpPr/>
            <p:nvPr/>
          </p:nvSpPr>
          <p:spPr>
            <a:xfrm>
              <a:off x="0" y="0"/>
              <a:ext cx="203200" cy="7123176"/>
            </a:xfrm>
            <a:custGeom>
              <a:avLst/>
              <a:gdLst/>
              <a:ahLst/>
              <a:cxnLst/>
              <a:rect l="l" t="t" r="r" b="b"/>
              <a:pathLst>
                <a:path w="203200" h="7123176">
                  <a:moveTo>
                    <a:pt x="0" y="101600"/>
                  </a:moveTo>
                  <a:cubicBezTo>
                    <a:pt x="0" y="45466"/>
                    <a:pt x="45466" y="0"/>
                    <a:pt x="101600" y="0"/>
                  </a:cubicBezTo>
                  <a:cubicBezTo>
                    <a:pt x="157734" y="0"/>
                    <a:pt x="203200" y="45466"/>
                    <a:pt x="203200" y="101600"/>
                  </a:cubicBezTo>
                  <a:lnTo>
                    <a:pt x="203200" y="7021576"/>
                  </a:lnTo>
                  <a:cubicBezTo>
                    <a:pt x="203200" y="7077710"/>
                    <a:pt x="157734" y="7123176"/>
                    <a:pt x="101600" y="7123176"/>
                  </a:cubicBezTo>
                  <a:cubicBezTo>
                    <a:pt x="45466" y="7123176"/>
                    <a:pt x="0" y="7077710"/>
                    <a:pt x="0" y="7021576"/>
                  </a:cubicBezTo>
                  <a:close/>
                </a:path>
              </a:pathLst>
            </a:custGeom>
            <a:solidFill>
              <a:srgbClr val="8C98CA"/>
            </a:solidFill>
            <a:ln w="12700">
              <a:solidFill>
                <a:srgbClr val="000000"/>
              </a:solidFill>
            </a:ln>
          </p:spPr>
        </p:sp>
      </p:grpSp>
      <p:sp>
        <p:nvSpPr>
          <p:cNvPr id="12" name="TextBox 12"/>
          <p:cNvSpPr txBox="1"/>
          <p:nvPr/>
        </p:nvSpPr>
        <p:spPr>
          <a:xfrm>
            <a:off x="1428159" y="3412779"/>
            <a:ext cx="4368108" cy="550659"/>
          </a:xfrm>
          <a:prstGeom prst="rect">
            <a:avLst/>
          </a:prstGeom>
        </p:spPr>
        <p:txBody>
          <a:bodyPr lIns="0" tIns="0" rIns="0" bIns="0" rtlCol="0" anchor="t">
            <a:spAutoFit/>
          </a:bodyPr>
          <a:lstStyle/>
          <a:p>
            <a:pPr algn="l">
              <a:lnSpc>
                <a:spcPts val="4125"/>
              </a:lnSpc>
            </a:pPr>
            <a:r>
              <a:rPr lang="en-US" sz="3312">
                <a:solidFill>
                  <a:srgbClr val="EBECEF"/>
                </a:solidFill>
                <a:latin typeface="Fraunces"/>
                <a:ea typeface="Fraunces"/>
                <a:cs typeface="Fraunces"/>
                <a:sym typeface="Fraunces"/>
              </a:rPr>
              <a:t>Why Random Forest?</a:t>
            </a:r>
          </a:p>
        </p:txBody>
      </p:sp>
      <p:sp>
        <p:nvSpPr>
          <p:cNvPr id="13" name="TextBox 13"/>
          <p:cNvSpPr txBox="1"/>
          <p:nvPr/>
        </p:nvSpPr>
        <p:spPr>
          <a:xfrm>
            <a:off x="1428159" y="4028780"/>
            <a:ext cx="7252392" cy="558403"/>
          </a:xfrm>
          <a:prstGeom prst="rect">
            <a:avLst/>
          </a:prstGeom>
        </p:spPr>
        <p:txBody>
          <a:bodyPr lIns="0" tIns="0" rIns="0" bIns="0" rtlCol="0" anchor="t">
            <a:spAutoFit/>
          </a:bodyPr>
          <a:lstStyle/>
          <a:p>
            <a:pPr algn="l">
              <a:lnSpc>
                <a:spcPts val="3562"/>
              </a:lnSpc>
            </a:pPr>
            <a:r>
              <a:rPr lang="en-US" sz="2187">
                <a:solidFill>
                  <a:srgbClr val="EBECEF"/>
                </a:solidFill>
                <a:latin typeface="Arimo"/>
                <a:ea typeface="Arimo"/>
                <a:cs typeface="Arimo"/>
                <a:sym typeface="Arimo"/>
              </a:rPr>
              <a:t>Random Forest was selected due to its:</a:t>
            </a:r>
          </a:p>
        </p:txBody>
      </p:sp>
      <p:sp>
        <p:nvSpPr>
          <p:cNvPr id="14" name="TextBox 14"/>
          <p:cNvSpPr txBox="1"/>
          <p:nvPr/>
        </p:nvSpPr>
        <p:spPr>
          <a:xfrm>
            <a:off x="1428159" y="4652515"/>
            <a:ext cx="7252392" cy="1012031"/>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EBECEF"/>
                </a:solidFill>
                <a:latin typeface="Arimo"/>
                <a:ea typeface="Arimo"/>
                <a:cs typeface="Arimo"/>
                <a:sym typeface="Arimo"/>
              </a:rPr>
              <a:t>Strong performance on high-dimensional handcrafted features</a:t>
            </a:r>
          </a:p>
        </p:txBody>
      </p:sp>
      <p:sp>
        <p:nvSpPr>
          <p:cNvPr id="15" name="TextBox 15"/>
          <p:cNvSpPr txBox="1"/>
          <p:nvPr/>
        </p:nvSpPr>
        <p:spPr>
          <a:xfrm>
            <a:off x="1428159" y="5658888"/>
            <a:ext cx="7252392" cy="558403"/>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EBECEF"/>
                </a:solidFill>
                <a:latin typeface="Arimo"/>
                <a:ea typeface="Arimo"/>
                <a:cs typeface="Arimo"/>
                <a:sym typeface="Arimo"/>
              </a:rPr>
              <a:t>Robustness to noise and overfitting</a:t>
            </a:r>
          </a:p>
        </p:txBody>
      </p:sp>
      <p:sp>
        <p:nvSpPr>
          <p:cNvPr id="16" name="TextBox 16"/>
          <p:cNvSpPr txBox="1"/>
          <p:nvPr/>
        </p:nvSpPr>
        <p:spPr>
          <a:xfrm>
            <a:off x="1428159" y="6211643"/>
            <a:ext cx="7252392" cy="1012031"/>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EBECEF"/>
                </a:solidFill>
                <a:latin typeface="Arimo"/>
                <a:ea typeface="Arimo"/>
                <a:cs typeface="Arimo"/>
                <a:sym typeface="Arimo"/>
              </a:rPr>
              <a:t>Ability to model complex decision boundaries through ensemble learning</a:t>
            </a:r>
          </a:p>
        </p:txBody>
      </p:sp>
      <p:grpSp>
        <p:nvGrpSpPr>
          <p:cNvPr id="17" name="Group 17"/>
          <p:cNvGrpSpPr/>
          <p:nvPr/>
        </p:nvGrpSpPr>
        <p:grpSpPr>
          <a:xfrm>
            <a:off x="9266634" y="3091158"/>
            <a:ext cx="8048177" cy="5380434"/>
            <a:chOff x="0" y="0"/>
            <a:chExt cx="10730903" cy="7173912"/>
          </a:xfrm>
        </p:grpSpPr>
        <p:sp>
          <p:nvSpPr>
            <p:cNvPr id="18" name="Freeform 18"/>
            <p:cNvSpPr/>
            <p:nvPr/>
          </p:nvSpPr>
          <p:spPr>
            <a:xfrm>
              <a:off x="25400" y="25400"/>
              <a:ext cx="10680065" cy="7123176"/>
            </a:xfrm>
            <a:custGeom>
              <a:avLst/>
              <a:gdLst/>
              <a:ahLst/>
              <a:cxnLst/>
              <a:rect l="l" t="t" r="r" b="b"/>
              <a:pathLst>
                <a:path w="10680065" h="7123176">
                  <a:moveTo>
                    <a:pt x="0" y="243840"/>
                  </a:moveTo>
                  <a:cubicBezTo>
                    <a:pt x="0" y="109220"/>
                    <a:pt x="109474" y="0"/>
                    <a:pt x="244348" y="0"/>
                  </a:cubicBezTo>
                  <a:lnTo>
                    <a:pt x="10435717" y="0"/>
                  </a:lnTo>
                  <a:cubicBezTo>
                    <a:pt x="10570718" y="0"/>
                    <a:pt x="10680065" y="109220"/>
                    <a:pt x="10680065" y="243840"/>
                  </a:cubicBezTo>
                  <a:lnTo>
                    <a:pt x="10680065" y="6879336"/>
                  </a:lnTo>
                  <a:cubicBezTo>
                    <a:pt x="10680065" y="7013956"/>
                    <a:pt x="10570591" y="7123176"/>
                    <a:pt x="10435717" y="7123176"/>
                  </a:cubicBezTo>
                  <a:lnTo>
                    <a:pt x="244348" y="7123176"/>
                  </a:lnTo>
                  <a:cubicBezTo>
                    <a:pt x="109347" y="7123176"/>
                    <a:pt x="0" y="7013956"/>
                    <a:pt x="0" y="6879336"/>
                  </a:cubicBezTo>
                  <a:close/>
                </a:path>
              </a:pathLst>
            </a:custGeom>
            <a:solidFill>
              <a:srgbClr val="080E26"/>
            </a:solidFill>
            <a:ln w="12700">
              <a:solidFill>
                <a:srgbClr val="000000"/>
              </a:solidFill>
            </a:ln>
          </p:spPr>
        </p:sp>
        <p:sp>
          <p:nvSpPr>
            <p:cNvPr id="19" name="Freeform 19"/>
            <p:cNvSpPr/>
            <p:nvPr/>
          </p:nvSpPr>
          <p:spPr>
            <a:xfrm>
              <a:off x="0" y="0"/>
              <a:ext cx="10730865" cy="7173976"/>
            </a:xfrm>
            <a:custGeom>
              <a:avLst/>
              <a:gdLst/>
              <a:ahLst/>
              <a:cxnLst/>
              <a:rect l="l" t="t" r="r" b="b"/>
              <a:pathLst>
                <a:path w="10730865" h="7173976">
                  <a:moveTo>
                    <a:pt x="0" y="269240"/>
                  </a:moveTo>
                  <a:cubicBezTo>
                    <a:pt x="0" y="120523"/>
                    <a:pt x="120904" y="0"/>
                    <a:pt x="269748" y="0"/>
                  </a:cubicBezTo>
                  <a:lnTo>
                    <a:pt x="10461117" y="0"/>
                  </a:lnTo>
                  <a:lnTo>
                    <a:pt x="10461117" y="25400"/>
                  </a:lnTo>
                  <a:lnTo>
                    <a:pt x="10461117" y="0"/>
                  </a:lnTo>
                  <a:cubicBezTo>
                    <a:pt x="10610088" y="0"/>
                    <a:pt x="10730865" y="120523"/>
                    <a:pt x="10730865" y="269240"/>
                  </a:cubicBezTo>
                  <a:lnTo>
                    <a:pt x="10705465" y="269240"/>
                  </a:lnTo>
                  <a:lnTo>
                    <a:pt x="10730865" y="269240"/>
                  </a:lnTo>
                  <a:lnTo>
                    <a:pt x="10730865" y="6904736"/>
                  </a:lnTo>
                  <a:lnTo>
                    <a:pt x="10705465" y="6904736"/>
                  </a:lnTo>
                  <a:lnTo>
                    <a:pt x="10730865" y="6904736"/>
                  </a:lnTo>
                  <a:cubicBezTo>
                    <a:pt x="10730865" y="7053453"/>
                    <a:pt x="10609961" y="7173976"/>
                    <a:pt x="10461117" y="7173976"/>
                  </a:cubicBezTo>
                  <a:lnTo>
                    <a:pt x="10461117" y="7148576"/>
                  </a:lnTo>
                  <a:lnTo>
                    <a:pt x="10461117" y="7173976"/>
                  </a:lnTo>
                  <a:lnTo>
                    <a:pt x="269748" y="7173976"/>
                  </a:lnTo>
                  <a:lnTo>
                    <a:pt x="269748" y="7148576"/>
                  </a:lnTo>
                  <a:lnTo>
                    <a:pt x="269748" y="7173976"/>
                  </a:lnTo>
                  <a:cubicBezTo>
                    <a:pt x="120904" y="7173976"/>
                    <a:pt x="0" y="7053453"/>
                    <a:pt x="0" y="6904736"/>
                  </a:cubicBezTo>
                  <a:lnTo>
                    <a:pt x="0" y="269240"/>
                  </a:lnTo>
                  <a:lnTo>
                    <a:pt x="25400" y="269240"/>
                  </a:lnTo>
                  <a:lnTo>
                    <a:pt x="0" y="269240"/>
                  </a:lnTo>
                  <a:moveTo>
                    <a:pt x="50800" y="269240"/>
                  </a:moveTo>
                  <a:lnTo>
                    <a:pt x="50800" y="6904736"/>
                  </a:lnTo>
                  <a:lnTo>
                    <a:pt x="25400" y="6904736"/>
                  </a:lnTo>
                  <a:lnTo>
                    <a:pt x="50800" y="6904736"/>
                  </a:lnTo>
                  <a:cubicBezTo>
                    <a:pt x="50800" y="7025259"/>
                    <a:pt x="148844" y="7123176"/>
                    <a:pt x="269748" y="7123176"/>
                  </a:cubicBezTo>
                  <a:lnTo>
                    <a:pt x="10461117" y="7123176"/>
                  </a:lnTo>
                  <a:cubicBezTo>
                    <a:pt x="10582149" y="7123176"/>
                    <a:pt x="10680065" y="7025386"/>
                    <a:pt x="10680065" y="6904736"/>
                  </a:cubicBezTo>
                  <a:lnTo>
                    <a:pt x="10680065" y="269240"/>
                  </a:lnTo>
                  <a:cubicBezTo>
                    <a:pt x="10680065" y="148717"/>
                    <a:pt x="10582022" y="50800"/>
                    <a:pt x="10461117" y="50800"/>
                  </a:cubicBezTo>
                  <a:lnTo>
                    <a:pt x="269748" y="50800"/>
                  </a:lnTo>
                  <a:lnTo>
                    <a:pt x="269748" y="25400"/>
                  </a:lnTo>
                  <a:lnTo>
                    <a:pt x="269748" y="50800"/>
                  </a:lnTo>
                  <a:cubicBezTo>
                    <a:pt x="148844" y="50800"/>
                    <a:pt x="50800" y="148590"/>
                    <a:pt x="50800" y="269240"/>
                  </a:cubicBezTo>
                  <a:close/>
                </a:path>
              </a:pathLst>
            </a:custGeom>
            <a:solidFill>
              <a:srgbClr val="414A70"/>
            </a:solidFill>
            <a:ln w="12700">
              <a:solidFill>
                <a:srgbClr val="000000"/>
              </a:solidFill>
            </a:ln>
          </p:spPr>
        </p:sp>
      </p:grpSp>
      <p:grpSp>
        <p:nvGrpSpPr>
          <p:cNvPr id="20" name="Group 20"/>
          <p:cNvGrpSpPr/>
          <p:nvPr/>
        </p:nvGrpSpPr>
        <p:grpSpPr>
          <a:xfrm>
            <a:off x="9247584" y="3110208"/>
            <a:ext cx="152400" cy="5342334"/>
            <a:chOff x="0" y="0"/>
            <a:chExt cx="203200" cy="7123112"/>
          </a:xfrm>
        </p:grpSpPr>
        <p:sp>
          <p:nvSpPr>
            <p:cNvPr id="21" name="Freeform 21"/>
            <p:cNvSpPr/>
            <p:nvPr/>
          </p:nvSpPr>
          <p:spPr>
            <a:xfrm>
              <a:off x="0" y="0"/>
              <a:ext cx="203200" cy="7123176"/>
            </a:xfrm>
            <a:custGeom>
              <a:avLst/>
              <a:gdLst/>
              <a:ahLst/>
              <a:cxnLst/>
              <a:rect l="l" t="t" r="r" b="b"/>
              <a:pathLst>
                <a:path w="203200" h="7123176">
                  <a:moveTo>
                    <a:pt x="0" y="101600"/>
                  </a:moveTo>
                  <a:cubicBezTo>
                    <a:pt x="0" y="45466"/>
                    <a:pt x="45466" y="0"/>
                    <a:pt x="101600" y="0"/>
                  </a:cubicBezTo>
                  <a:cubicBezTo>
                    <a:pt x="157734" y="0"/>
                    <a:pt x="203200" y="45466"/>
                    <a:pt x="203200" y="101600"/>
                  </a:cubicBezTo>
                  <a:lnTo>
                    <a:pt x="203200" y="7021576"/>
                  </a:lnTo>
                  <a:cubicBezTo>
                    <a:pt x="203200" y="7077710"/>
                    <a:pt x="157734" y="7123176"/>
                    <a:pt x="101600" y="7123176"/>
                  </a:cubicBezTo>
                  <a:cubicBezTo>
                    <a:pt x="45466" y="7123176"/>
                    <a:pt x="0" y="7077710"/>
                    <a:pt x="0" y="7021576"/>
                  </a:cubicBezTo>
                  <a:close/>
                </a:path>
              </a:pathLst>
            </a:custGeom>
            <a:solidFill>
              <a:srgbClr val="8C98CA"/>
            </a:solidFill>
            <a:ln w="12700">
              <a:solidFill>
                <a:srgbClr val="000000"/>
              </a:solidFill>
            </a:ln>
          </p:spPr>
        </p:sp>
      </p:grpSp>
      <p:sp>
        <p:nvSpPr>
          <p:cNvPr id="22" name="TextBox 22"/>
          <p:cNvSpPr txBox="1"/>
          <p:nvPr/>
        </p:nvSpPr>
        <p:spPr>
          <a:xfrm>
            <a:off x="9721606" y="3412779"/>
            <a:ext cx="4696568" cy="550659"/>
          </a:xfrm>
          <a:prstGeom prst="rect">
            <a:avLst/>
          </a:prstGeom>
        </p:spPr>
        <p:txBody>
          <a:bodyPr lIns="0" tIns="0" rIns="0" bIns="0" rtlCol="0" anchor="t">
            <a:spAutoFit/>
          </a:bodyPr>
          <a:lstStyle/>
          <a:p>
            <a:pPr algn="l">
              <a:lnSpc>
                <a:spcPts val="4125"/>
              </a:lnSpc>
            </a:pPr>
            <a:r>
              <a:rPr lang="en-US" sz="3312">
                <a:solidFill>
                  <a:srgbClr val="EBECEF"/>
                </a:solidFill>
                <a:latin typeface="Fraunces"/>
                <a:ea typeface="Fraunces"/>
                <a:cs typeface="Fraunces"/>
                <a:sym typeface="Fraunces"/>
              </a:rPr>
              <a:t>Experimental Outcome</a:t>
            </a:r>
          </a:p>
        </p:txBody>
      </p:sp>
      <p:sp>
        <p:nvSpPr>
          <p:cNvPr id="23" name="TextBox 23"/>
          <p:cNvSpPr txBox="1"/>
          <p:nvPr/>
        </p:nvSpPr>
        <p:spPr>
          <a:xfrm>
            <a:off x="9721606" y="4028780"/>
            <a:ext cx="7252545" cy="1012031"/>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EBECEF"/>
                </a:solidFill>
                <a:latin typeface="Arimo"/>
                <a:ea typeface="Arimo"/>
                <a:cs typeface="Arimo"/>
                <a:sym typeface="Arimo"/>
              </a:rPr>
              <a:t>High accuracy achieved when training and testing at the same resolution</a:t>
            </a:r>
          </a:p>
        </p:txBody>
      </p:sp>
      <p:sp>
        <p:nvSpPr>
          <p:cNvPr id="24" name="TextBox 24"/>
          <p:cNvSpPr txBox="1"/>
          <p:nvPr/>
        </p:nvSpPr>
        <p:spPr>
          <a:xfrm>
            <a:off x="9721606" y="5035153"/>
            <a:ext cx="7252545" cy="1012031"/>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EBECEF"/>
                </a:solidFill>
                <a:latin typeface="Arimo"/>
                <a:ea typeface="Arimo"/>
                <a:cs typeface="Arimo"/>
                <a:sym typeface="Arimo"/>
              </a:rPr>
              <a:t>Noticeable degradation when mixing different DPI values</a:t>
            </a:r>
          </a:p>
        </p:txBody>
      </p:sp>
      <p:sp>
        <p:nvSpPr>
          <p:cNvPr id="25" name="TextBox 25"/>
          <p:cNvSpPr txBox="1"/>
          <p:nvPr/>
        </p:nvSpPr>
        <p:spPr>
          <a:xfrm>
            <a:off x="9721606" y="6041527"/>
            <a:ext cx="7252545" cy="1012031"/>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EBECEF"/>
                </a:solidFill>
                <a:latin typeface="Arimo"/>
                <a:ea typeface="Arimo"/>
                <a:cs typeface="Arimo"/>
                <a:sym typeface="Arimo"/>
              </a:rPr>
              <a:t>Demonstrated sensitivity of handcrafted features to resolution changes</a:t>
            </a:r>
          </a:p>
        </p:txBody>
      </p:sp>
      <p:sp>
        <p:nvSpPr>
          <p:cNvPr id="26" name="TextBox 26"/>
          <p:cNvSpPr txBox="1"/>
          <p:nvPr/>
        </p:nvSpPr>
        <p:spPr>
          <a:xfrm>
            <a:off x="9721606" y="7118899"/>
            <a:ext cx="7252545" cy="1012031"/>
          </a:xfrm>
          <a:prstGeom prst="rect">
            <a:avLst/>
          </a:prstGeom>
        </p:spPr>
        <p:txBody>
          <a:bodyPr lIns="0" tIns="0" rIns="0" bIns="0" rtlCol="0" anchor="t">
            <a:spAutoFit/>
          </a:bodyPr>
          <a:lstStyle/>
          <a:p>
            <a:pPr algn="l">
              <a:lnSpc>
                <a:spcPts val="3562"/>
              </a:lnSpc>
            </a:pPr>
            <a:r>
              <a:rPr lang="en-US" sz="2187">
                <a:solidFill>
                  <a:srgbClr val="EBECEF"/>
                </a:solidFill>
                <a:latin typeface="Arimo"/>
                <a:ea typeface="Arimo"/>
                <a:cs typeface="Arimo"/>
                <a:sym typeface="Arimo"/>
              </a:rPr>
              <a:t>This limitation motivated the transition to deep learning-based solutions.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A8AFCC"/>
            </a:solidFill>
            <a:ln w="12700">
              <a:solidFill>
                <a:srgbClr val="000000"/>
              </a:solidFill>
            </a:ln>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80E26"/>
            </a:solidFill>
            <a:ln w="12700">
              <a:solidFill>
                <a:srgbClr val="000000"/>
              </a:solidFill>
            </a:ln>
          </p:spPr>
        </p:sp>
      </p:grpSp>
      <p:sp>
        <p:nvSpPr>
          <p:cNvPr id="6" name="Freeform 6" descr="preencoded.png"/>
          <p:cNvSpPr/>
          <p:nvPr/>
        </p:nvSpPr>
        <p:spPr>
          <a:xfrm>
            <a:off x="0" y="0"/>
            <a:ext cx="6858000" cy="10287000"/>
          </a:xfrm>
          <a:custGeom>
            <a:avLst/>
            <a:gdLst/>
            <a:ahLst/>
            <a:cxnLst/>
            <a:rect l="l" t="t" r="r" b="b"/>
            <a:pathLst>
              <a:path w="6858000" h="10287000">
                <a:moveTo>
                  <a:pt x="0" y="0"/>
                </a:moveTo>
                <a:lnTo>
                  <a:pt x="6858000" y="0"/>
                </a:lnTo>
                <a:lnTo>
                  <a:pt x="6858000" y="10287000"/>
                </a:lnTo>
                <a:lnTo>
                  <a:pt x="0" y="10287000"/>
                </a:lnTo>
                <a:lnTo>
                  <a:pt x="0" y="0"/>
                </a:lnTo>
                <a:close/>
              </a:path>
            </a:pathLst>
          </a:custGeom>
          <a:blipFill>
            <a:blip r:embed="rId3"/>
            <a:stretch>
              <a:fillRect/>
            </a:stretch>
          </a:blipFill>
        </p:spPr>
      </p:sp>
      <p:sp>
        <p:nvSpPr>
          <p:cNvPr id="7" name="TextBox 7"/>
          <p:cNvSpPr txBox="1"/>
          <p:nvPr/>
        </p:nvSpPr>
        <p:spPr>
          <a:xfrm>
            <a:off x="7850238" y="3554463"/>
            <a:ext cx="7235276" cy="727767"/>
          </a:xfrm>
          <a:prstGeom prst="rect">
            <a:avLst/>
          </a:prstGeom>
        </p:spPr>
        <p:txBody>
          <a:bodyPr lIns="0" tIns="0" rIns="0" bIns="0" rtlCol="0" anchor="t">
            <a:spAutoFit/>
          </a:bodyPr>
          <a:lstStyle/>
          <a:p>
            <a:pPr algn="l">
              <a:lnSpc>
                <a:spcPts val="5562"/>
              </a:lnSpc>
            </a:pPr>
            <a:r>
              <a:rPr lang="en-US" sz="4437">
                <a:solidFill>
                  <a:srgbClr val="FFFFFF"/>
                </a:solidFill>
                <a:latin typeface="Fraunces"/>
                <a:ea typeface="Fraunces"/>
                <a:cs typeface="Fraunces"/>
                <a:sym typeface="Fraunces"/>
              </a:rPr>
              <a:t>Deep Learning Framework</a:t>
            </a:r>
          </a:p>
        </p:txBody>
      </p:sp>
      <p:sp>
        <p:nvSpPr>
          <p:cNvPr id="8" name="TextBox 8"/>
          <p:cNvSpPr txBox="1"/>
          <p:nvPr/>
        </p:nvSpPr>
        <p:spPr>
          <a:xfrm>
            <a:off x="7850238" y="4376585"/>
            <a:ext cx="5403504" cy="550659"/>
          </a:xfrm>
          <a:prstGeom prst="rect">
            <a:avLst/>
          </a:prstGeom>
        </p:spPr>
        <p:txBody>
          <a:bodyPr lIns="0" tIns="0" rIns="0" bIns="0" rtlCol="0" anchor="t">
            <a:spAutoFit/>
          </a:bodyPr>
          <a:lstStyle/>
          <a:p>
            <a:pPr algn="l">
              <a:lnSpc>
                <a:spcPts val="4125"/>
              </a:lnSpc>
            </a:pPr>
            <a:r>
              <a:rPr lang="en-US" sz="3312">
                <a:solidFill>
                  <a:srgbClr val="FFFFFF"/>
                </a:solidFill>
                <a:latin typeface="Fraunces"/>
                <a:ea typeface="Fraunces"/>
                <a:cs typeface="Fraunces"/>
                <a:sym typeface="Fraunces"/>
              </a:rPr>
              <a:t>CNN Trained from Scratch</a:t>
            </a:r>
          </a:p>
        </p:txBody>
      </p:sp>
      <p:sp>
        <p:nvSpPr>
          <p:cNvPr id="9" name="TextBox 9"/>
          <p:cNvSpPr txBox="1"/>
          <p:nvPr/>
        </p:nvSpPr>
        <p:spPr>
          <a:xfrm>
            <a:off x="7850238" y="5247684"/>
            <a:ext cx="9445523" cy="1465659"/>
          </a:xfrm>
          <a:prstGeom prst="rect">
            <a:avLst/>
          </a:prstGeom>
        </p:spPr>
        <p:txBody>
          <a:bodyPr lIns="0" tIns="0" rIns="0" bIns="0" rtlCol="0" anchor="t">
            <a:spAutoFit/>
          </a:bodyPr>
          <a:lstStyle/>
          <a:p>
            <a:pPr algn="l">
              <a:lnSpc>
                <a:spcPts val="3562"/>
              </a:lnSpc>
            </a:pPr>
            <a:r>
              <a:rPr lang="en-US" sz="2187">
                <a:solidFill>
                  <a:srgbClr val="EBECEF"/>
                </a:solidFill>
                <a:latin typeface="Arimo"/>
                <a:ea typeface="Arimo"/>
                <a:cs typeface="Arimo"/>
                <a:sym typeface="Arimo"/>
              </a:rPr>
              <a:t>Initial CNN experiments suffered from underfitting caused by limited data availability, with performance stabilizing at relatively low accuracy levels.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A8AFCC"/>
            </a:solidFill>
            <a:ln w="12700">
              <a:solidFill>
                <a:srgbClr val="000000"/>
              </a:solidFill>
            </a:ln>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80E26"/>
            </a:solidFill>
            <a:ln w="12700">
              <a:solidFill>
                <a:srgbClr val="000000"/>
              </a:solidFill>
            </a:ln>
          </p:spPr>
        </p:sp>
      </p:grpSp>
      <p:sp>
        <p:nvSpPr>
          <p:cNvPr id="6" name="Freeform 6" descr="preencoded.png"/>
          <p:cNvSpPr/>
          <p:nvPr/>
        </p:nvSpPr>
        <p:spPr>
          <a:xfrm>
            <a:off x="0" y="0"/>
            <a:ext cx="18288000" cy="3489122"/>
          </a:xfrm>
          <a:custGeom>
            <a:avLst/>
            <a:gdLst/>
            <a:ahLst/>
            <a:cxnLst/>
            <a:rect l="l" t="t" r="r" b="b"/>
            <a:pathLst>
              <a:path w="18288000" h="3489122">
                <a:moveTo>
                  <a:pt x="0" y="0"/>
                </a:moveTo>
                <a:lnTo>
                  <a:pt x="18288000" y="0"/>
                </a:lnTo>
                <a:lnTo>
                  <a:pt x="18288000" y="3489122"/>
                </a:lnTo>
                <a:lnTo>
                  <a:pt x="0" y="3489122"/>
                </a:lnTo>
                <a:lnTo>
                  <a:pt x="0" y="0"/>
                </a:lnTo>
                <a:close/>
              </a:path>
            </a:pathLst>
          </a:custGeom>
          <a:blipFill>
            <a:blip r:embed="rId3"/>
            <a:stretch>
              <a:fillRect l="-42" r="-42"/>
            </a:stretch>
          </a:blipFill>
        </p:spPr>
      </p:sp>
      <p:grpSp>
        <p:nvGrpSpPr>
          <p:cNvPr id="7" name="Group 7"/>
          <p:cNvGrpSpPr/>
          <p:nvPr/>
        </p:nvGrpSpPr>
        <p:grpSpPr>
          <a:xfrm>
            <a:off x="972141" y="4253655"/>
            <a:ext cx="8037014" cy="5268811"/>
            <a:chOff x="0" y="0"/>
            <a:chExt cx="10716019" cy="7025081"/>
          </a:xfrm>
        </p:grpSpPr>
        <p:sp>
          <p:nvSpPr>
            <p:cNvPr id="8" name="Freeform 8"/>
            <p:cNvSpPr/>
            <p:nvPr/>
          </p:nvSpPr>
          <p:spPr>
            <a:xfrm>
              <a:off x="6350" y="6350"/>
              <a:ext cx="10703433" cy="7012432"/>
            </a:xfrm>
            <a:custGeom>
              <a:avLst/>
              <a:gdLst/>
              <a:ahLst/>
              <a:cxnLst/>
              <a:rect l="l" t="t" r="r" b="b"/>
              <a:pathLst>
                <a:path w="10703433" h="7012432">
                  <a:moveTo>
                    <a:pt x="0" y="156337"/>
                  </a:moveTo>
                  <a:cubicBezTo>
                    <a:pt x="0" y="69977"/>
                    <a:pt x="69977" y="0"/>
                    <a:pt x="156464" y="0"/>
                  </a:cubicBezTo>
                  <a:lnTo>
                    <a:pt x="10546969" y="0"/>
                  </a:lnTo>
                  <a:cubicBezTo>
                    <a:pt x="10633328" y="0"/>
                    <a:pt x="10703433" y="69977"/>
                    <a:pt x="10703433" y="156337"/>
                  </a:cubicBezTo>
                  <a:lnTo>
                    <a:pt x="10703433" y="6856095"/>
                  </a:lnTo>
                  <a:cubicBezTo>
                    <a:pt x="10703433" y="6942455"/>
                    <a:pt x="10633456" y="7012432"/>
                    <a:pt x="10546969" y="7012432"/>
                  </a:cubicBezTo>
                  <a:lnTo>
                    <a:pt x="156464" y="7012432"/>
                  </a:lnTo>
                  <a:cubicBezTo>
                    <a:pt x="69977" y="7012432"/>
                    <a:pt x="0" y="6942455"/>
                    <a:pt x="0" y="6856095"/>
                  </a:cubicBezTo>
                  <a:close/>
                </a:path>
              </a:pathLst>
            </a:custGeom>
            <a:solidFill>
              <a:srgbClr val="283157"/>
            </a:solidFill>
            <a:ln w="12700">
              <a:solidFill>
                <a:srgbClr val="000000"/>
              </a:solidFill>
            </a:ln>
          </p:spPr>
        </p:sp>
        <p:sp>
          <p:nvSpPr>
            <p:cNvPr id="9" name="Freeform 9"/>
            <p:cNvSpPr/>
            <p:nvPr/>
          </p:nvSpPr>
          <p:spPr>
            <a:xfrm>
              <a:off x="0" y="0"/>
              <a:ext cx="10716133" cy="7025132"/>
            </a:xfrm>
            <a:custGeom>
              <a:avLst/>
              <a:gdLst/>
              <a:ahLst/>
              <a:cxnLst/>
              <a:rect l="l" t="t" r="r" b="b"/>
              <a:pathLst>
                <a:path w="10716133" h="7025132">
                  <a:moveTo>
                    <a:pt x="0" y="162687"/>
                  </a:moveTo>
                  <a:cubicBezTo>
                    <a:pt x="0" y="72771"/>
                    <a:pt x="72898" y="0"/>
                    <a:pt x="162814" y="0"/>
                  </a:cubicBezTo>
                  <a:lnTo>
                    <a:pt x="10553319" y="0"/>
                  </a:lnTo>
                  <a:lnTo>
                    <a:pt x="10553319" y="6350"/>
                  </a:lnTo>
                  <a:lnTo>
                    <a:pt x="10553319" y="0"/>
                  </a:lnTo>
                  <a:cubicBezTo>
                    <a:pt x="10643235" y="0"/>
                    <a:pt x="10716133" y="72771"/>
                    <a:pt x="10716133" y="162687"/>
                  </a:cubicBezTo>
                  <a:lnTo>
                    <a:pt x="10709783" y="162687"/>
                  </a:lnTo>
                  <a:lnTo>
                    <a:pt x="10716133" y="162687"/>
                  </a:lnTo>
                  <a:lnTo>
                    <a:pt x="10716133" y="6862445"/>
                  </a:lnTo>
                  <a:lnTo>
                    <a:pt x="10709783" y="6862445"/>
                  </a:lnTo>
                  <a:lnTo>
                    <a:pt x="10716133" y="6862445"/>
                  </a:lnTo>
                  <a:cubicBezTo>
                    <a:pt x="10716133" y="6952234"/>
                    <a:pt x="10643235" y="7025132"/>
                    <a:pt x="10553319" y="7025132"/>
                  </a:cubicBezTo>
                  <a:lnTo>
                    <a:pt x="10553319" y="7018782"/>
                  </a:lnTo>
                  <a:lnTo>
                    <a:pt x="10553319" y="7025132"/>
                  </a:lnTo>
                  <a:lnTo>
                    <a:pt x="162814" y="7025132"/>
                  </a:lnTo>
                  <a:lnTo>
                    <a:pt x="162814" y="7018782"/>
                  </a:lnTo>
                  <a:lnTo>
                    <a:pt x="162814" y="7025132"/>
                  </a:lnTo>
                  <a:cubicBezTo>
                    <a:pt x="72898" y="7025132"/>
                    <a:pt x="0" y="6952234"/>
                    <a:pt x="0" y="6862445"/>
                  </a:cubicBezTo>
                  <a:lnTo>
                    <a:pt x="0" y="162687"/>
                  </a:lnTo>
                  <a:lnTo>
                    <a:pt x="6350" y="162687"/>
                  </a:lnTo>
                  <a:lnTo>
                    <a:pt x="0" y="162687"/>
                  </a:lnTo>
                  <a:moveTo>
                    <a:pt x="12700" y="162687"/>
                  </a:moveTo>
                  <a:lnTo>
                    <a:pt x="12700" y="6862445"/>
                  </a:lnTo>
                  <a:lnTo>
                    <a:pt x="6350" y="6862445"/>
                  </a:lnTo>
                  <a:lnTo>
                    <a:pt x="12700" y="6862445"/>
                  </a:lnTo>
                  <a:cubicBezTo>
                    <a:pt x="12700" y="6945249"/>
                    <a:pt x="79883" y="7012432"/>
                    <a:pt x="162814" y="7012432"/>
                  </a:cubicBezTo>
                  <a:lnTo>
                    <a:pt x="10553319" y="7012432"/>
                  </a:lnTo>
                  <a:cubicBezTo>
                    <a:pt x="10636250" y="7012432"/>
                    <a:pt x="10703433" y="6945249"/>
                    <a:pt x="10703433" y="6862445"/>
                  </a:cubicBezTo>
                  <a:lnTo>
                    <a:pt x="10703433" y="162687"/>
                  </a:lnTo>
                  <a:cubicBezTo>
                    <a:pt x="10703306" y="79883"/>
                    <a:pt x="10636123" y="12700"/>
                    <a:pt x="10553319" y="12700"/>
                  </a:cubicBezTo>
                  <a:lnTo>
                    <a:pt x="162814" y="12700"/>
                  </a:lnTo>
                  <a:lnTo>
                    <a:pt x="162814" y="6350"/>
                  </a:lnTo>
                  <a:lnTo>
                    <a:pt x="162814" y="12700"/>
                  </a:lnTo>
                  <a:cubicBezTo>
                    <a:pt x="79883" y="12700"/>
                    <a:pt x="12700" y="79883"/>
                    <a:pt x="12700" y="162687"/>
                  </a:cubicBezTo>
                  <a:close/>
                </a:path>
              </a:pathLst>
            </a:custGeom>
            <a:solidFill>
              <a:srgbClr val="414A70"/>
            </a:solidFill>
            <a:ln w="12700">
              <a:solidFill>
                <a:srgbClr val="000000"/>
              </a:solidFill>
            </a:ln>
          </p:spPr>
        </p:sp>
      </p:grpSp>
      <p:grpSp>
        <p:nvGrpSpPr>
          <p:cNvPr id="10" name="Group 10"/>
          <p:cNvGrpSpPr/>
          <p:nvPr/>
        </p:nvGrpSpPr>
        <p:grpSpPr>
          <a:xfrm>
            <a:off x="1265482" y="4546997"/>
            <a:ext cx="837305" cy="837305"/>
            <a:chOff x="0" y="0"/>
            <a:chExt cx="1116406" cy="1116406"/>
          </a:xfrm>
        </p:grpSpPr>
        <p:sp>
          <p:nvSpPr>
            <p:cNvPr id="11" name="Freeform 11"/>
            <p:cNvSpPr/>
            <p:nvPr/>
          </p:nvSpPr>
          <p:spPr>
            <a:xfrm>
              <a:off x="0" y="0"/>
              <a:ext cx="1116457" cy="1116457"/>
            </a:xfrm>
            <a:custGeom>
              <a:avLst/>
              <a:gdLst/>
              <a:ahLst/>
              <a:cxnLst/>
              <a:rect l="l" t="t" r="r" b="b"/>
              <a:pathLst>
                <a:path w="1116457" h="1116457">
                  <a:moveTo>
                    <a:pt x="0" y="558165"/>
                  </a:moveTo>
                  <a:cubicBezTo>
                    <a:pt x="0" y="249936"/>
                    <a:pt x="249936" y="0"/>
                    <a:pt x="558165" y="0"/>
                  </a:cubicBezTo>
                  <a:cubicBezTo>
                    <a:pt x="866394" y="0"/>
                    <a:pt x="1116457" y="249936"/>
                    <a:pt x="1116457" y="558165"/>
                  </a:cubicBezTo>
                  <a:cubicBezTo>
                    <a:pt x="1116457" y="866394"/>
                    <a:pt x="866521" y="1116457"/>
                    <a:pt x="558165" y="1116457"/>
                  </a:cubicBezTo>
                  <a:cubicBezTo>
                    <a:pt x="249809" y="1116457"/>
                    <a:pt x="0" y="866521"/>
                    <a:pt x="0" y="558165"/>
                  </a:cubicBezTo>
                  <a:close/>
                </a:path>
              </a:pathLst>
            </a:custGeom>
            <a:solidFill>
              <a:srgbClr val="8C98CA"/>
            </a:solidFill>
            <a:ln w="12700">
              <a:solidFill>
                <a:srgbClr val="000000"/>
              </a:solidFill>
            </a:ln>
          </p:spPr>
        </p:sp>
      </p:grpSp>
      <p:sp>
        <p:nvSpPr>
          <p:cNvPr id="12" name="Freeform 12" descr="preencoded.png"/>
          <p:cNvSpPr/>
          <p:nvPr/>
        </p:nvSpPr>
        <p:spPr>
          <a:xfrm>
            <a:off x="1495720" y="4777083"/>
            <a:ext cx="376828" cy="376828"/>
          </a:xfrm>
          <a:custGeom>
            <a:avLst/>
            <a:gdLst/>
            <a:ahLst/>
            <a:cxnLst/>
            <a:rect l="l" t="t" r="r" b="b"/>
            <a:pathLst>
              <a:path w="376828" h="376828">
                <a:moveTo>
                  <a:pt x="0" y="0"/>
                </a:moveTo>
                <a:lnTo>
                  <a:pt x="376828" y="0"/>
                </a:lnTo>
                <a:lnTo>
                  <a:pt x="376828" y="376828"/>
                </a:lnTo>
                <a:lnTo>
                  <a:pt x="0" y="37682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3" name="TextBox 13"/>
          <p:cNvSpPr txBox="1"/>
          <p:nvPr/>
        </p:nvSpPr>
        <p:spPr>
          <a:xfrm>
            <a:off x="1265482" y="5644305"/>
            <a:ext cx="5411391" cy="542334"/>
          </a:xfrm>
          <a:prstGeom prst="rect">
            <a:avLst/>
          </a:prstGeom>
        </p:spPr>
        <p:txBody>
          <a:bodyPr lIns="0" tIns="0" rIns="0" bIns="0" rtlCol="0" anchor="t">
            <a:spAutoFit/>
          </a:bodyPr>
          <a:lstStyle/>
          <a:p>
            <a:pPr algn="l">
              <a:lnSpc>
                <a:spcPts val="4062"/>
              </a:lnSpc>
            </a:pPr>
            <a:r>
              <a:rPr lang="en-US" sz="3250">
                <a:solidFill>
                  <a:srgbClr val="EBECEF"/>
                </a:solidFill>
                <a:latin typeface="Fraunces"/>
                <a:ea typeface="Fraunces"/>
                <a:cs typeface="Fraunces"/>
                <a:sym typeface="Fraunces"/>
              </a:rPr>
              <a:t>Transfer Learning Strategy</a:t>
            </a:r>
          </a:p>
        </p:txBody>
      </p:sp>
      <p:sp>
        <p:nvSpPr>
          <p:cNvPr id="14" name="TextBox 14"/>
          <p:cNvSpPr txBox="1"/>
          <p:nvPr/>
        </p:nvSpPr>
        <p:spPr>
          <a:xfrm>
            <a:off x="1265482" y="6249295"/>
            <a:ext cx="7450341" cy="998039"/>
          </a:xfrm>
          <a:prstGeom prst="rect">
            <a:avLst/>
          </a:prstGeom>
        </p:spPr>
        <p:txBody>
          <a:bodyPr lIns="0" tIns="0" rIns="0" bIns="0" rtlCol="0" anchor="t">
            <a:spAutoFit/>
          </a:bodyPr>
          <a:lstStyle/>
          <a:p>
            <a:pPr marL="329902" lvl="1" indent="-164951" algn="l">
              <a:lnSpc>
                <a:spcPts val="3500"/>
              </a:lnSpc>
              <a:buFont typeface="Arial"/>
              <a:buChar char="•"/>
            </a:pPr>
            <a:r>
              <a:rPr lang="en-US" sz="2187">
                <a:solidFill>
                  <a:srgbClr val="EBECEF"/>
                </a:solidFill>
                <a:latin typeface="Arimo"/>
                <a:ea typeface="Arimo"/>
                <a:cs typeface="Arimo"/>
                <a:sym typeface="Arimo"/>
              </a:rPr>
              <a:t>Pre-trained convolutional architectures were adopted</a:t>
            </a:r>
          </a:p>
        </p:txBody>
      </p:sp>
      <p:sp>
        <p:nvSpPr>
          <p:cNvPr id="15" name="TextBox 15"/>
          <p:cNvSpPr txBox="1"/>
          <p:nvPr/>
        </p:nvSpPr>
        <p:spPr>
          <a:xfrm>
            <a:off x="1265482" y="7240191"/>
            <a:ext cx="7450341" cy="998039"/>
          </a:xfrm>
          <a:prstGeom prst="rect">
            <a:avLst/>
          </a:prstGeom>
        </p:spPr>
        <p:txBody>
          <a:bodyPr lIns="0" tIns="0" rIns="0" bIns="0" rtlCol="0" anchor="t">
            <a:spAutoFit/>
          </a:bodyPr>
          <a:lstStyle/>
          <a:p>
            <a:pPr marL="329902" lvl="1" indent="-164951" algn="l">
              <a:lnSpc>
                <a:spcPts val="3500"/>
              </a:lnSpc>
              <a:buFont typeface="Arial"/>
              <a:buChar char="•"/>
            </a:pPr>
            <a:r>
              <a:rPr lang="en-US" sz="2187">
                <a:solidFill>
                  <a:srgbClr val="EBECEF"/>
                </a:solidFill>
                <a:latin typeface="Arimo"/>
                <a:ea typeface="Arimo"/>
                <a:cs typeface="Arimo"/>
                <a:sym typeface="Arimo"/>
              </a:rPr>
              <a:t>Model layers were fine-tuned on scanner-specific data</a:t>
            </a:r>
          </a:p>
        </p:txBody>
      </p:sp>
      <p:sp>
        <p:nvSpPr>
          <p:cNvPr id="16" name="TextBox 16"/>
          <p:cNvSpPr txBox="1"/>
          <p:nvPr/>
        </p:nvSpPr>
        <p:spPr>
          <a:xfrm>
            <a:off x="1265482" y="8231086"/>
            <a:ext cx="7450341" cy="998039"/>
          </a:xfrm>
          <a:prstGeom prst="rect">
            <a:avLst/>
          </a:prstGeom>
        </p:spPr>
        <p:txBody>
          <a:bodyPr lIns="0" tIns="0" rIns="0" bIns="0" rtlCol="0" anchor="t">
            <a:spAutoFit/>
          </a:bodyPr>
          <a:lstStyle/>
          <a:p>
            <a:pPr marL="329902" lvl="1" indent="-164951" algn="l">
              <a:lnSpc>
                <a:spcPts val="3500"/>
              </a:lnSpc>
              <a:buFont typeface="Arial"/>
              <a:buChar char="•"/>
            </a:pPr>
            <a:r>
              <a:rPr lang="en-US" sz="2187">
                <a:solidFill>
                  <a:srgbClr val="EBECEF"/>
                </a:solidFill>
                <a:latin typeface="Arimo"/>
                <a:ea typeface="Arimo"/>
                <a:cs typeface="Arimo"/>
                <a:sym typeface="Arimo"/>
              </a:rPr>
              <a:t>Data augmentation techniques improved diversity and robustness</a:t>
            </a:r>
          </a:p>
        </p:txBody>
      </p:sp>
      <p:grpSp>
        <p:nvGrpSpPr>
          <p:cNvPr id="17" name="Group 17"/>
          <p:cNvGrpSpPr/>
          <p:nvPr/>
        </p:nvGrpSpPr>
        <p:grpSpPr>
          <a:xfrm>
            <a:off x="9278693" y="4253655"/>
            <a:ext cx="8037166" cy="5268811"/>
            <a:chOff x="0" y="0"/>
            <a:chExt cx="10716222" cy="7025081"/>
          </a:xfrm>
        </p:grpSpPr>
        <p:sp>
          <p:nvSpPr>
            <p:cNvPr id="18" name="Freeform 18"/>
            <p:cNvSpPr/>
            <p:nvPr/>
          </p:nvSpPr>
          <p:spPr>
            <a:xfrm>
              <a:off x="6350" y="6350"/>
              <a:ext cx="10703560" cy="7012432"/>
            </a:xfrm>
            <a:custGeom>
              <a:avLst/>
              <a:gdLst/>
              <a:ahLst/>
              <a:cxnLst/>
              <a:rect l="l" t="t" r="r" b="b"/>
              <a:pathLst>
                <a:path w="10703560" h="7012432">
                  <a:moveTo>
                    <a:pt x="0" y="156337"/>
                  </a:moveTo>
                  <a:cubicBezTo>
                    <a:pt x="0" y="69977"/>
                    <a:pt x="69977" y="0"/>
                    <a:pt x="156464" y="0"/>
                  </a:cubicBezTo>
                  <a:lnTo>
                    <a:pt x="10547096" y="0"/>
                  </a:lnTo>
                  <a:cubicBezTo>
                    <a:pt x="10633456" y="0"/>
                    <a:pt x="10703560" y="69977"/>
                    <a:pt x="10703560" y="156337"/>
                  </a:cubicBezTo>
                  <a:lnTo>
                    <a:pt x="10703560" y="6856095"/>
                  </a:lnTo>
                  <a:cubicBezTo>
                    <a:pt x="10703560" y="6942455"/>
                    <a:pt x="10633583" y="7012432"/>
                    <a:pt x="10547096" y="7012432"/>
                  </a:cubicBezTo>
                  <a:lnTo>
                    <a:pt x="156464" y="7012432"/>
                  </a:lnTo>
                  <a:cubicBezTo>
                    <a:pt x="69977" y="7012432"/>
                    <a:pt x="0" y="6942455"/>
                    <a:pt x="0" y="6856095"/>
                  </a:cubicBezTo>
                  <a:close/>
                </a:path>
              </a:pathLst>
            </a:custGeom>
            <a:solidFill>
              <a:srgbClr val="283157"/>
            </a:solidFill>
            <a:ln w="12700">
              <a:solidFill>
                <a:srgbClr val="000000"/>
              </a:solidFill>
            </a:ln>
          </p:spPr>
        </p:sp>
        <p:sp>
          <p:nvSpPr>
            <p:cNvPr id="19" name="Freeform 19"/>
            <p:cNvSpPr/>
            <p:nvPr/>
          </p:nvSpPr>
          <p:spPr>
            <a:xfrm>
              <a:off x="0" y="0"/>
              <a:ext cx="10716260" cy="7025132"/>
            </a:xfrm>
            <a:custGeom>
              <a:avLst/>
              <a:gdLst/>
              <a:ahLst/>
              <a:cxnLst/>
              <a:rect l="l" t="t" r="r" b="b"/>
              <a:pathLst>
                <a:path w="10716260" h="7025132">
                  <a:moveTo>
                    <a:pt x="0" y="162687"/>
                  </a:moveTo>
                  <a:cubicBezTo>
                    <a:pt x="0" y="72771"/>
                    <a:pt x="72898" y="0"/>
                    <a:pt x="162814" y="0"/>
                  </a:cubicBezTo>
                  <a:lnTo>
                    <a:pt x="10553446" y="0"/>
                  </a:lnTo>
                  <a:lnTo>
                    <a:pt x="10553446" y="6350"/>
                  </a:lnTo>
                  <a:lnTo>
                    <a:pt x="10553446" y="0"/>
                  </a:lnTo>
                  <a:cubicBezTo>
                    <a:pt x="10643362" y="0"/>
                    <a:pt x="10716260" y="72771"/>
                    <a:pt x="10716260" y="162687"/>
                  </a:cubicBezTo>
                  <a:lnTo>
                    <a:pt x="10709910" y="162687"/>
                  </a:lnTo>
                  <a:lnTo>
                    <a:pt x="10716260" y="162687"/>
                  </a:lnTo>
                  <a:lnTo>
                    <a:pt x="10716260" y="6862445"/>
                  </a:lnTo>
                  <a:lnTo>
                    <a:pt x="10709910" y="6862445"/>
                  </a:lnTo>
                  <a:lnTo>
                    <a:pt x="10716260" y="6862445"/>
                  </a:lnTo>
                  <a:cubicBezTo>
                    <a:pt x="10716260" y="6952234"/>
                    <a:pt x="10643362" y="7025132"/>
                    <a:pt x="10553446" y="7025132"/>
                  </a:cubicBezTo>
                  <a:lnTo>
                    <a:pt x="10553446" y="7018782"/>
                  </a:lnTo>
                  <a:lnTo>
                    <a:pt x="10553446" y="7025132"/>
                  </a:lnTo>
                  <a:lnTo>
                    <a:pt x="162814" y="7025132"/>
                  </a:lnTo>
                  <a:lnTo>
                    <a:pt x="162814" y="7018782"/>
                  </a:lnTo>
                  <a:lnTo>
                    <a:pt x="162814" y="7025132"/>
                  </a:lnTo>
                  <a:cubicBezTo>
                    <a:pt x="72898" y="7025132"/>
                    <a:pt x="0" y="6952234"/>
                    <a:pt x="0" y="6862445"/>
                  </a:cubicBezTo>
                  <a:lnTo>
                    <a:pt x="0" y="162687"/>
                  </a:lnTo>
                  <a:lnTo>
                    <a:pt x="6350" y="162687"/>
                  </a:lnTo>
                  <a:lnTo>
                    <a:pt x="0" y="162687"/>
                  </a:lnTo>
                  <a:moveTo>
                    <a:pt x="12700" y="162687"/>
                  </a:moveTo>
                  <a:lnTo>
                    <a:pt x="12700" y="6862445"/>
                  </a:lnTo>
                  <a:lnTo>
                    <a:pt x="6350" y="6862445"/>
                  </a:lnTo>
                  <a:lnTo>
                    <a:pt x="12700" y="6862445"/>
                  </a:lnTo>
                  <a:cubicBezTo>
                    <a:pt x="12700" y="6945249"/>
                    <a:pt x="79883" y="7012432"/>
                    <a:pt x="162814" y="7012432"/>
                  </a:cubicBezTo>
                  <a:lnTo>
                    <a:pt x="10553446" y="7012432"/>
                  </a:lnTo>
                  <a:cubicBezTo>
                    <a:pt x="10636377" y="7012432"/>
                    <a:pt x="10703560" y="6945249"/>
                    <a:pt x="10703560" y="6862445"/>
                  </a:cubicBezTo>
                  <a:lnTo>
                    <a:pt x="10703560" y="162687"/>
                  </a:lnTo>
                  <a:cubicBezTo>
                    <a:pt x="10703560" y="79883"/>
                    <a:pt x="10636377" y="12700"/>
                    <a:pt x="10553446" y="12700"/>
                  </a:cubicBezTo>
                  <a:lnTo>
                    <a:pt x="162814" y="12700"/>
                  </a:lnTo>
                  <a:lnTo>
                    <a:pt x="162814" y="6350"/>
                  </a:lnTo>
                  <a:lnTo>
                    <a:pt x="162814" y="12700"/>
                  </a:lnTo>
                  <a:cubicBezTo>
                    <a:pt x="79883" y="12700"/>
                    <a:pt x="12700" y="79883"/>
                    <a:pt x="12700" y="162687"/>
                  </a:cubicBezTo>
                  <a:close/>
                </a:path>
              </a:pathLst>
            </a:custGeom>
            <a:solidFill>
              <a:srgbClr val="414A70"/>
            </a:solidFill>
            <a:ln w="12700">
              <a:solidFill>
                <a:srgbClr val="000000"/>
              </a:solidFill>
            </a:ln>
          </p:spPr>
        </p:sp>
      </p:grpSp>
      <p:grpSp>
        <p:nvGrpSpPr>
          <p:cNvPr id="20" name="Group 20"/>
          <p:cNvGrpSpPr/>
          <p:nvPr/>
        </p:nvGrpSpPr>
        <p:grpSpPr>
          <a:xfrm>
            <a:off x="9572034" y="4546997"/>
            <a:ext cx="837305" cy="837305"/>
            <a:chOff x="0" y="0"/>
            <a:chExt cx="1116406" cy="1116406"/>
          </a:xfrm>
        </p:grpSpPr>
        <p:sp>
          <p:nvSpPr>
            <p:cNvPr id="21" name="Freeform 21"/>
            <p:cNvSpPr/>
            <p:nvPr/>
          </p:nvSpPr>
          <p:spPr>
            <a:xfrm>
              <a:off x="0" y="0"/>
              <a:ext cx="1116457" cy="1116457"/>
            </a:xfrm>
            <a:custGeom>
              <a:avLst/>
              <a:gdLst/>
              <a:ahLst/>
              <a:cxnLst/>
              <a:rect l="l" t="t" r="r" b="b"/>
              <a:pathLst>
                <a:path w="1116457" h="1116457">
                  <a:moveTo>
                    <a:pt x="0" y="558165"/>
                  </a:moveTo>
                  <a:cubicBezTo>
                    <a:pt x="0" y="249936"/>
                    <a:pt x="249936" y="0"/>
                    <a:pt x="558165" y="0"/>
                  </a:cubicBezTo>
                  <a:cubicBezTo>
                    <a:pt x="866394" y="0"/>
                    <a:pt x="1116457" y="249936"/>
                    <a:pt x="1116457" y="558165"/>
                  </a:cubicBezTo>
                  <a:cubicBezTo>
                    <a:pt x="1116457" y="866394"/>
                    <a:pt x="866521" y="1116457"/>
                    <a:pt x="558165" y="1116457"/>
                  </a:cubicBezTo>
                  <a:cubicBezTo>
                    <a:pt x="249809" y="1116457"/>
                    <a:pt x="0" y="866521"/>
                    <a:pt x="0" y="558165"/>
                  </a:cubicBezTo>
                  <a:close/>
                </a:path>
              </a:pathLst>
            </a:custGeom>
            <a:solidFill>
              <a:srgbClr val="8C98CA"/>
            </a:solidFill>
            <a:ln w="12700">
              <a:solidFill>
                <a:srgbClr val="000000"/>
              </a:solidFill>
            </a:ln>
          </p:spPr>
        </p:sp>
      </p:grpSp>
      <p:sp>
        <p:nvSpPr>
          <p:cNvPr id="22" name="Freeform 22" descr="preencoded.png"/>
          <p:cNvSpPr/>
          <p:nvPr/>
        </p:nvSpPr>
        <p:spPr>
          <a:xfrm>
            <a:off x="9802263" y="4777083"/>
            <a:ext cx="376828" cy="376828"/>
          </a:xfrm>
          <a:custGeom>
            <a:avLst/>
            <a:gdLst/>
            <a:ahLst/>
            <a:cxnLst/>
            <a:rect l="l" t="t" r="r" b="b"/>
            <a:pathLst>
              <a:path w="376828" h="376828">
                <a:moveTo>
                  <a:pt x="0" y="0"/>
                </a:moveTo>
                <a:lnTo>
                  <a:pt x="376828" y="0"/>
                </a:lnTo>
                <a:lnTo>
                  <a:pt x="376828" y="376828"/>
                </a:lnTo>
                <a:lnTo>
                  <a:pt x="0" y="376828"/>
                </a:lnTo>
                <a:lnTo>
                  <a:pt x="0" y="0"/>
                </a:lnTo>
                <a:close/>
              </a:path>
            </a:pathLst>
          </a:custGeom>
          <a:blipFill>
            <a:blip r:embed="rId6">
              <a:extLst>
                <a:ext uri="{96DAC541-7B7A-43D3-8B79-37D633B846F1}">
                  <asvg:svgBlip xmlns:asvg="http://schemas.microsoft.com/office/drawing/2016/SVG/main" r:embed="rId7"/>
                </a:ext>
              </a:extLst>
            </a:blip>
            <a:stretch>
              <a:fillRect l="-4999" r="-5002"/>
            </a:stretch>
          </a:blipFill>
        </p:spPr>
      </p:sp>
      <p:sp>
        <p:nvSpPr>
          <p:cNvPr id="23" name="TextBox 23"/>
          <p:cNvSpPr txBox="1"/>
          <p:nvPr/>
        </p:nvSpPr>
        <p:spPr>
          <a:xfrm>
            <a:off x="9572034" y="5644305"/>
            <a:ext cx="5453062" cy="542334"/>
          </a:xfrm>
          <a:prstGeom prst="rect">
            <a:avLst/>
          </a:prstGeom>
        </p:spPr>
        <p:txBody>
          <a:bodyPr lIns="0" tIns="0" rIns="0" bIns="0" rtlCol="0" anchor="t">
            <a:spAutoFit/>
          </a:bodyPr>
          <a:lstStyle/>
          <a:p>
            <a:pPr algn="l">
              <a:lnSpc>
                <a:spcPts val="4062"/>
              </a:lnSpc>
            </a:pPr>
            <a:r>
              <a:rPr lang="en-US" sz="3250">
                <a:solidFill>
                  <a:srgbClr val="EBECEF"/>
                </a:solidFill>
                <a:latin typeface="Fraunces"/>
                <a:ea typeface="Fraunces"/>
                <a:cs typeface="Fraunces"/>
                <a:sym typeface="Fraunces"/>
              </a:rPr>
              <a:t>Performance Improvement</a:t>
            </a:r>
          </a:p>
        </p:txBody>
      </p:sp>
      <p:sp>
        <p:nvSpPr>
          <p:cNvPr id="24" name="TextBox 24"/>
          <p:cNvSpPr txBox="1"/>
          <p:nvPr/>
        </p:nvSpPr>
        <p:spPr>
          <a:xfrm>
            <a:off x="9572034" y="6249295"/>
            <a:ext cx="7450484" cy="1444676"/>
          </a:xfrm>
          <a:prstGeom prst="rect">
            <a:avLst/>
          </a:prstGeom>
        </p:spPr>
        <p:txBody>
          <a:bodyPr lIns="0" tIns="0" rIns="0" bIns="0" rtlCol="0" anchor="t">
            <a:spAutoFit/>
          </a:bodyPr>
          <a:lstStyle/>
          <a:p>
            <a:pPr algn="l">
              <a:lnSpc>
                <a:spcPts val="3500"/>
              </a:lnSpc>
            </a:pPr>
            <a:r>
              <a:rPr lang="en-US" sz="2187">
                <a:solidFill>
                  <a:srgbClr val="EBECEF"/>
                </a:solidFill>
                <a:latin typeface="Arimo"/>
                <a:ea typeface="Arimo"/>
                <a:cs typeface="Arimo"/>
                <a:sym typeface="Arimo"/>
              </a:rPr>
              <a:t>Transfer learning significantly enhanced classification accuracy and generalization across mixed-resolution datasets.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A8AFCC"/>
            </a:solidFill>
            <a:ln w="12700">
              <a:solidFill>
                <a:srgbClr val="000000"/>
              </a:solidFill>
            </a:ln>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80E26"/>
            </a:solidFill>
            <a:ln w="12700">
              <a:solidFill>
                <a:srgbClr val="000000"/>
              </a:solidFill>
            </a:ln>
          </p:spPr>
        </p:sp>
      </p:grpSp>
      <p:sp>
        <p:nvSpPr>
          <p:cNvPr id="6" name="Freeform 6" descr="preencoded.png"/>
          <p:cNvSpPr/>
          <p:nvPr/>
        </p:nvSpPr>
        <p:spPr>
          <a:xfrm>
            <a:off x="0" y="0"/>
            <a:ext cx="18288000" cy="3232842"/>
          </a:xfrm>
          <a:custGeom>
            <a:avLst/>
            <a:gdLst/>
            <a:ahLst/>
            <a:cxnLst/>
            <a:rect l="l" t="t" r="r" b="b"/>
            <a:pathLst>
              <a:path w="18288000" h="3232842">
                <a:moveTo>
                  <a:pt x="0" y="0"/>
                </a:moveTo>
                <a:lnTo>
                  <a:pt x="18288000" y="0"/>
                </a:lnTo>
                <a:lnTo>
                  <a:pt x="18288000" y="3232842"/>
                </a:lnTo>
                <a:lnTo>
                  <a:pt x="0" y="3232842"/>
                </a:lnTo>
                <a:lnTo>
                  <a:pt x="0" y="0"/>
                </a:lnTo>
                <a:close/>
              </a:path>
            </a:pathLst>
          </a:custGeom>
          <a:blipFill>
            <a:blip r:embed="rId3"/>
            <a:stretch>
              <a:fillRect l="-59" r="-59"/>
            </a:stretch>
          </a:blipFill>
        </p:spPr>
      </p:sp>
      <p:sp>
        <p:nvSpPr>
          <p:cNvPr id="7" name="TextBox 7"/>
          <p:cNvSpPr txBox="1"/>
          <p:nvPr/>
        </p:nvSpPr>
        <p:spPr>
          <a:xfrm>
            <a:off x="964854" y="4139355"/>
            <a:ext cx="5467502" cy="665712"/>
          </a:xfrm>
          <a:prstGeom prst="rect">
            <a:avLst/>
          </a:prstGeom>
        </p:spPr>
        <p:txBody>
          <a:bodyPr lIns="0" tIns="0" rIns="0" bIns="0" rtlCol="0" anchor="t">
            <a:spAutoFit/>
          </a:bodyPr>
          <a:lstStyle/>
          <a:p>
            <a:pPr algn="l">
              <a:lnSpc>
                <a:spcPts val="5062"/>
              </a:lnSpc>
            </a:pPr>
            <a:r>
              <a:rPr lang="en-US" sz="4062">
                <a:solidFill>
                  <a:srgbClr val="FFFFFF"/>
                </a:solidFill>
                <a:latin typeface="Fraunces"/>
                <a:ea typeface="Fraunces"/>
                <a:cs typeface="Fraunces"/>
                <a:sym typeface="Fraunces"/>
              </a:rPr>
              <a:t>Model Interpretability</a:t>
            </a:r>
          </a:p>
        </p:txBody>
      </p:sp>
      <p:grpSp>
        <p:nvGrpSpPr>
          <p:cNvPr id="8" name="Group 8"/>
          <p:cNvGrpSpPr/>
          <p:nvPr/>
        </p:nvGrpSpPr>
        <p:grpSpPr>
          <a:xfrm>
            <a:off x="950566" y="5178628"/>
            <a:ext cx="8078391" cy="3492398"/>
            <a:chOff x="0" y="0"/>
            <a:chExt cx="10771188" cy="4656531"/>
          </a:xfrm>
        </p:grpSpPr>
        <p:sp>
          <p:nvSpPr>
            <p:cNvPr id="9" name="Freeform 9"/>
            <p:cNvSpPr/>
            <p:nvPr/>
          </p:nvSpPr>
          <p:spPr>
            <a:xfrm>
              <a:off x="19050" y="19050"/>
              <a:ext cx="10733151" cy="4618355"/>
            </a:xfrm>
            <a:custGeom>
              <a:avLst/>
              <a:gdLst/>
              <a:ahLst/>
              <a:cxnLst/>
              <a:rect l="l" t="t" r="r" b="b"/>
              <a:pathLst>
                <a:path w="10733151" h="4618355">
                  <a:moveTo>
                    <a:pt x="0" y="144780"/>
                  </a:moveTo>
                  <a:cubicBezTo>
                    <a:pt x="0" y="64770"/>
                    <a:pt x="65151" y="0"/>
                    <a:pt x="145542" y="0"/>
                  </a:cubicBezTo>
                  <a:lnTo>
                    <a:pt x="10587609" y="0"/>
                  </a:lnTo>
                  <a:cubicBezTo>
                    <a:pt x="10668000" y="0"/>
                    <a:pt x="10733151" y="64897"/>
                    <a:pt x="10733151" y="144780"/>
                  </a:cubicBezTo>
                  <a:lnTo>
                    <a:pt x="10733151" y="4473575"/>
                  </a:lnTo>
                  <a:cubicBezTo>
                    <a:pt x="10733151" y="4553585"/>
                    <a:pt x="10668000" y="4618355"/>
                    <a:pt x="10587609" y="4618355"/>
                  </a:cubicBezTo>
                  <a:lnTo>
                    <a:pt x="145542" y="4618355"/>
                  </a:lnTo>
                  <a:cubicBezTo>
                    <a:pt x="65151" y="4618355"/>
                    <a:pt x="0" y="4553458"/>
                    <a:pt x="0" y="4473575"/>
                  </a:cubicBezTo>
                  <a:close/>
                </a:path>
              </a:pathLst>
            </a:custGeom>
            <a:solidFill>
              <a:srgbClr val="080E26"/>
            </a:solidFill>
            <a:ln w="12700">
              <a:solidFill>
                <a:srgbClr val="000000"/>
              </a:solidFill>
            </a:ln>
          </p:spPr>
        </p:sp>
        <p:sp>
          <p:nvSpPr>
            <p:cNvPr id="10" name="Freeform 10"/>
            <p:cNvSpPr/>
            <p:nvPr/>
          </p:nvSpPr>
          <p:spPr>
            <a:xfrm>
              <a:off x="0" y="0"/>
              <a:ext cx="10771251" cy="4656455"/>
            </a:xfrm>
            <a:custGeom>
              <a:avLst/>
              <a:gdLst/>
              <a:ahLst/>
              <a:cxnLst/>
              <a:rect l="l" t="t" r="r" b="b"/>
              <a:pathLst>
                <a:path w="10771251" h="4656455">
                  <a:moveTo>
                    <a:pt x="0" y="163830"/>
                  </a:moveTo>
                  <a:cubicBezTo>
                    <a:pt x="0" y="73279"/>
                    <a:pt x="73787" y="0"/>
                    <a:pt x="164592" y="0"/>
                  </a:cubicBezTo>
                  <a:lnTo>
                    <a:pt x="10606659" y="0"/>
                  </a:lnTo>
                  <a:lnTo>
                    <a:pt x="10606659" y="19050"/>
                  </a:lnTo>
                  <a:lnTo>
                    <a:pt x="10606659" y="0"/>
                  </a:lnTo>
                  <a:cubicBezTo>
                    <a:pt x="10697464" y="0"/>
                    <a:pt x="10771251" y="73279"/>
                    <a:pt x="10771251" y="163830"/>
                  </a:cubicBezTo>
                  <a:lnTo>
                    <a:pt x="10752201" y="163830"/>
                  </a:lnTo>
                  <a:lnTo>
                    <a:pt x="10771251" y="163830"/>
                  </a:lnTo>
                  <a:lnTo>
                    <a:pt x="10771251" y="4492625"/>
                  </a:lnTo>
                  <a:lnTo>
                    <a:pt x="10752201" y="4492625"/>
                  </a:lnTo>
                  <a:lnTo>
                    <a:pt x="10771251" y="4492625"/>
                  </a:lnTo>
                  <a:cubicBezTo>
                    <a:pt x="10771251" y="4583176"/>
                    <a:pt x="10697464" y="4656455"/>
                    <a:pt x="10606659" y="4656455"/>
                  </a:cubicBezTo>
                  <a:lnTo>
                    <a:pt x="10606659" y="4637405"/>
                  </a:lnTo>
                  <a:lnTo>
                    <a:pt x="10606659" y="4656455"/>
                  </a:lnTo>
                  <a:lnTo>
                    <a:pt x="164592" y="4656455"/>
                  </a:lnTo>
                  <a:lnTo>
                    <a:pt x="164592" y="4637405"/>
                  </a:lnTo>
                  <a:lnTo>
                    <a:pt x="164592" y="4656455"/>
                  </a:lnTo>
                  <a:cubicBezTo>
                    <a:pt x="73787" y="4656582"/>
                    <a:pt x="0" y="4583303"/>
                    <a:pt x="0" y="4492625"/>
                  </a:cubicBezTo>
                  <a:lnTo>
                    <a:pt x="0" y="163830"/>
                  </a:lnTo>
                  <a:lnTo>
                    <a:pt x="19050" y="163830"/>
                  </a:lnTo>
                  <a:lnTo>
                    <a:pt x="0" y="163830"/>
                  </a:lnTo>
                  <a:moveTo>
                    <a:pt x="38100" y="163830"/>
                  </a:moveTo>
                  <a:lnTo>
                    <a:pt x="38100" y="4492625"/>
                  </a:lnTo>
                  <a:lnTo>
                    <a:pt x="19050" y="4492625"/>
                  </a:lnTo>
                  <a:lnTo>
                    <a:pt x="38100" y="4492625"/>
                  </a:lnTo>
                  <a:cubicBezTo>
                    <a:pt x="38100" y="4561967"/>
                    <a:pt x="94615" y="4618355"/>
                    <a:pt x="164592" y="4618355"/>
                  </a:cubicBezTo>
                  <a:lnTo>
                    <a:pt x="10606659" y="4618355"/>
                  </a:lnTo>
                  <a:cubicBezTo>
                    <a:pt x="10676636" y="4618355"/>
                    <a:pt x="10733151" y="4561967"/>
                    <a:pt x="10733151" y="4492625"/>
                  </a:cubicBezTo>
                  <a:lnTo>
                    <a:pt x="10733151" y="163830"/>
                  </a:lnTo>
                  <a:cubicBezTo>
                    <a:pt x="10733151" y="94488"/>
                    <a:pt x="10676636" y="38100"/>
                    <a:pt x="10606659" y="38100"/>
                  </a:cubicBezTo>
                  <a:lnTo>
                    <a:pt x="164592" y="38100"/>
                  </a:lnTo>
                  <a:lnTo>
                    <a:pt x="164592" y="19050"/>
                  </a:lnTo>
                  <a:lnTo>
                    <a:pt x="164592" y="38100"/>
                  </a:lnTo>
                  <a:cubicBezTo>
                    <a:pt x="94615" y="38100"/>
                    <a:pt x="38100" y="94488"/>
                    <a:pt x="38100" y="163830"/>
                  </a:cubicBezTo>
                  <a:close/>
                </a:path>
              </a:pathLst>
            </a:custGeom>
            <a:solidFill>
              <a:srgbClr val="414A70"/>
            </a:solidFill>
            <a:ln w="12700">
              <a:solidFill>
                <a:srgbClr val="000000"/>
              </a:solidFill>
            </a:ln>
          </p:spPr>
        </p:sp>
      </p:grpSp>
      <p:sp>
        <p:nvSpPr>
          <p:cNvPr id="11" name="TextBox 11"/>
          <p:cNvSpPr txBox="1"/>
          <p:nvPr/>
        </p:nvSpPr>
        <p:spPr>
          <a:xfrm>
            <a:off x="1251947" y="5460949"/>
            <a:ext cx="5795067" cy="503930"/>
          </a:xfrm>
          <a:prstGeom prst="rect">
            <a:avLst/>
          </a:prstGeom>
        </p:spPr>
        <p:txBody>
          <a:bodyPr lIns="0" tIns="0" rIns="0" bIns="0" rtlCol="0" anchor="t">
            <a:spAutoFit/>
          </a:bodyPr>
          <a:lstStyle/>
          <a:p>
            <a:pPr algn="l">
              <a:lnSpc>
                <a:spcPts val="3812"/>
              </a:lnSpc>
            </a:pPr>
            <a:r>
              <a:rPr lang="en-US" sz="3000">
                <a:solidFill>
                  <a:srgbClr val="EBECEF"/>
                </a:solidFill>
                <a:latin typeface="Fraunces"/>
                <a:ea typeface="Fraunces"/>
                <a:cs typeface="Fraunces"/>
                <a:sym typeface="Fraunces"/>
              </a:rPr>
              <a:t>Explainability Using Grad-CAM</a:t>
            </a:r>
          </a:p>
        </p:txBody>
      </p:sp>
      <p:sp>
        <p:nvSpPr>
          <p:cNvPr id="12" name="TextBox 12"/>
          <p:cNvSpPr txBox="1"/>
          <p:nvPr/>
        </p:nvSpPr>
        <p:spPr>
          <a:xfrm>
            <a:off x="1251947" y="6034240"/>
            <a:ext cx="7475639" cy="913209"/>
          </a:xfrm>
          <a:prstGeom prst="rect">
            <a:avLst/>
          </a:prstGeom>
        </p:spPr>
        <p:txBody>
          <a:bodyPr lIns="0" tIns="0" rIns="0" bIns="0" rtlCol="0" anchor="t">
            <a:spAutoFit/>
          </a:bodyPr>
          <a:lstStyle/>
          <a:p>
            <a:pPr algn="l">
              <a:lnSpc>
                <a:spcPts val="3250"/>
              </a:lnSpc>
            </a:pPr>
            <a:r>
              <a:rPr lang="en-US" sz="2000">
                <a:solidFill>
                  <a:srgbClr val="EBECEF"/>
                </a:solidFill>
                <a:latin typeface="Arimo"/>
                <a:ea typeface="Arimo"/>
                <a:cs typeface="Arimo"/>
                <a:sym typeface="Arimo"/>
              </a:rPr>
              <a:t>To ensure forensic reliability, visual explanation techniques were applied to analyze CNN predictions.</a:t>
            </a:r>
          </a:p>
        </p:txBody>
      </p:sp>
      <p:grpSp>
        <p:nvGrpSpPr>
          <p:cNvPr id="13" name="Group 13"/>
          <p:cNvGrpSpPr/>
          <p:nvPr/>
        </p:nvGrpSpPr>
        <p:grpSpPr>
          <a:xfrm>
            <a:off x="9258891" y="5178628"/>
            <a:ext cx="8078543" cy="3492398"/>
            <a:chOff x="0" y="0"/>
            <a:chExt cx="10771391" cy="4656531"/>
          </a:xfrm>
        </p:grpSpPr>
        <p:sp>
          <p:nvSpPr>
            <p:cNvPr id="14" name="Freeform 14"/>
            <p:cNvSpPr/>
            <p:nvPr/>
          </p:nvSpPr>
          <p:spPr>
            <a:xfrm>
              <a:off x="19050" y="19050"/>
              <a:ext cx="10733278" cy="4618355"/>
            </a:xfrm>
            <a:custGeom>
              <a:avLst/>
              <a:gdLst/>
              <a:ahLst/>
              <a:cxnLst/>
              <a:rect l="l" t="t" r="r" b="b"/>
              <a:pathLst>
                <a:path w="10733278" h="4618355">
                  <a:moveTo>
                    <a:pt x="0" y="144780"/>
                  </a:moveTo>
                  <a:cubicBezTo>
                    <a:pt x="0" y="64770"/>
                    <a:pt x="65151" y="0"/>
                    <a:pt x="145542" y="0"/>
                  </a:cubicBezTo>
                  <a:lnTo>
                    <a:pt x="10587736" y="0"/>
                  </a:lnTo>
                  <a:cubicBezTo>
                    <a:pt x="10668127" y="0"/>
                    <a:pt x="10733278" y="64897"/>
                    <a:pt x="10733278" y="144780"/>
                  </a:cubicBezTo>
                  <a:lnTo>
                    <a:pt x="10733278" y="4473575"/>
                  </a:lnTo>
                  <a:cubicBezTo>
                    <a:pt x="10733278" y="4553585"/>
                    <a:pt x="10668127" y="4618355"/>
                    <a:pt x="10587736" y="4618355"/>
                  </a:cubicBezTo>
                  <a:lnTo>
                    <a:pt x="145542" y="4618355"/>
                  </a:lnTo>
                  <a:cubicBezTo>
                    <a:pt x="65151" y="4618355"/>
                    <a:pt x="0" y="4553458"/>
                    <a:pt x="0" y="4473575"/>
                  </a:cubicBezTo>
                  <a:close/>
                </a:path>
              </a:pathLst>
            </a:custGeom>
            <a:solidFill>
              <a:srgbClr val="080E26"/>
            </a:solidFill>
            <a:ln w="12700">
              <a:solidFill>
                <a:srgbClr val="000000"/>
              </a:solidFill>
            </a:ln>
          </p:spPr>
        </p:sp>
        <p:sp>
          <p:nvSpPr>
            <p:cNvPr id="15" name="Freeform 15"/>
            <p:cNvSpPr/>
            <p:nvPr/>
          </p:nvSpPr>
          <p:spPr>
            <a:xfrm>
              <a:off x="0" y="0"/>
              <a:ext cx="10771378" cy="4656455"/>
            </a:xfrm>
            <a:custGeom>
              <a:avLst/>
              <a:gdLst/>
              <a:ahLst/>
              <a:cxnLst/>
              <a:rect l="l" t="t" r="r" b="b"/>
              <a:pathLst>
                <a:path w="10771378" h="4656455">
                  <a:moveTo>
                    <a:pt x="0" y="163830"/>
                  </a:moveTo>
                  <a:cubicBezTo>
                    <a:pt x="0" y="73279"/>
                    <a:pt x="73787" y="0"/>
                    <a:pt x="164592" y="0"/>
                  </a:cubicBezTo>
                  <a:lnTo>
                    <a:pt x="10606786" y="0"/>
                  </a:lnTo>
                  <a:lnTo>
                    <a:pt x="10606786" y="19050"/>
                  </a:lnTo>
                  <a:lnTo>
                    <a:pt x="10606786" y="0"/>
                  </a:lnTo>
                  <a:cubicBezTo>
                    <a:pt x="10697591" y="0"/>
                    <a:pt x="10771378" y="73279"/>
                    <a:pt x="10771378" y="163830"/>
                  </a:cubicBezTo>
                  <a:lnTo>
                    <a:pt x="10752328" y="163830"/>
                  </a:lnTo>
                  <a:lnTo>
                    <a:pt x="10771378" y="163830"/>
                  </a:lnTo>
                  <a:lnTo>
                    <a:pt x="10771378" y="4492625"/>
                  </a:lnTo>
                  <a:lnTo>
                    <a:pt x="10752328" y="4492625"/>
                  </a:lnTo>
                  <a:lnTo>
                    <a:pt x="10771378" y="4492625"/>
                  </a:lnTo>
                  <a:cubicBezTo>
                    <a:pt x="10771378" y="4583176"/>
                    <a:pt x="10697591" y="4656455"/>
                    <a:pt x="10606786" y="4656455"/>
                  </a:cubicBezTo>
                  <a:lnTo>
                    <a:pt x="10606786" y="4637405"/>
                  </a:lnTo>
                  <a:lnTo>
                    <a:pt x="10606786" y="4656455"/>
                  </a:lnTo>
                  <a:lnTo>
                    <a:pt x="164592" y="4656455"/>
                  </a:lnTo>
                  <a:lnTo>
                    <a:pt x="164592" y="4637405"/>
                  </a:lnTo>
                  <a:lnTo>
                    <a:pt x="164592" y="4656455"/>
                  </a:lnTo>
                  <a:cubicBezTo>
                    <a:pt x="73787" y="4656582"/>
                    <a:pt x="0" y="4583303"/>
                    <a:pt x="0" y="4492625"/>
                  </a:cubicBezTo>
                  <a:lnTo>
                    <a:pt x="0" y="163830"/>
                  </a:lnTo>
                  <a:lnTo>
                    <a:pt x="19050" y="163830"/>
                  </a:lnTo>
                  <a:lnTo>
                    <a:pt x="0" y="163830"/>
                  </a:lnTo>
                  <a:moveTo>
                    <a:pt x="38100" y="163830"/>
                  </a:moveTo>
                  <a:lnTo>
                    <a:pt x="38100" y="4492625"/>
                  </a:lnTo>
                  <a:lnTo>
                    <a:pt x="19050" y="4492625"/>
                  </a:lnTo>
                  <a:lnTo>
                    <a:pt x="38100" y="4492625"/>
                  </a:lnTo>
                  <a:cubicBezTo>
                    <a:pt x="38100" y="4561967"/>
                    <a:pt x="94615" y="4618355"/>
                    <a:pt x="164592" y="4618355"/>
                  </a:cubicBezTo>
                  <a:lnTo>
                    <a:pt x="10606786" y="4618355"/>
                  </a:lnTo>
                  <a:cubicBezTo>
                    <a:pt x="10676763" y="4618355"/>
                    <a:pt x="10733278" y="4561967"/>
                    <a:pt x="10733278" y="4492625"/>
                  </a:cubicBezTo>
                  <a:lnTo>
                    <a:pt x="10733278" y="163830"/>
                  </a:lnTo>
                  <a:cubicBezTo>
                    <a:pt x="10733278" y="94488"/>
                    <a:pt x="10676763" y="38100"/>
                    <a:pt x="10606786" y="38100"/>
                  </a:cubicBezTo>
                  <a:lnTo>
                    <a:pt x="164592" y="38100"/>
                  </a:lnTo>
                  <a:lnTo>
                    <a:pt x="164592" y="19050"/>
                  </a:lnTo>
                  <a:lnTo>
                    <a:pt x="164592" y="38100"/>
                  </a:lnTo>
                  <a:cubicBezTo>
                    <a:pt x="94615" y="38100"/>
                    <a:pt x="38100" y="94488"/>
                    <a:pt x="38100" y="163830"/>
                  </a:cubicBezTo>
                  <a:close/>
                </a:path>
              </a:pathLst>
            </a:custGeom>
            <a:solidFill>
              <a:srgbClr val="414A70"/>
            </a:solidFill>
            <a:ln w="12700">
              <a:solidFill>
                <a:srgbClr val="000000"/>
              </a:solidFill>
            </a:ln>
          </p:spPr>
        </p:sp>
      </p:grpSp>
      <p:sp>
        <p:nvSpPr>
          <p:cNvPr id="16" name="TextBox 16"/>
          <p:cNvSpPr txBox="1"/>
          <p:nvPr/>
        </p:nvSpPr>
        <p:spPr>
          <a:xfrm>
            <a:off x="9560271" y="5460949"/>
            <a:ext cx="3879352" cy="503930"/>
          </a:xfrm>
          <a:prstGeom prst="rect">
            <a:avLst/>
          </a:prstGeom>
        </p:spPr>
        <p:txBody>
          <a:bodyPr lIns="0" tIns="0" rIns="0" bIns="0" rtlCol="0" anchor="t">
            <a:spAutoFit/>
          </a:bodyPr>
          <a:lstStyle/>
          <a:p>
            <a:pPr algn="l">
              <a:lnSpc>
                <a:spcPts val="3812"/>
              </a:lnSpc>
            </a:pPr>
            <a:r>
              <a:rPr lang="en-US" sz="3000">
                <a:solidFill>
                  <a:srgbClr val="EBECEF"/>
                </a:solidFill>
                <a:latin typeface="Fraunces"/>
                <a:ea typeface="Fraunces"/>
                <a:cs typeface="Fraunces"/>
                <a:sym typeface="Fraunces"/>
              </a:rPr>
              <a:t>Observed Behavior</a:t>
            </a:r>
          </a:p>
        </p:txBody>
      </p:sp>
      <p:sp>
        <p:nvSpPr>
          <p:cNvPr id="17" name="TextBox 17"/>
          <p:cNvSpPr txBox="1"/>
          <p:nvPr/>
        </p:nvSpPr>
        <p:spPr>
          <a:xfrm>
            <a:off x="9560271" y="6034240"/>
            <a:ext cx="7475782" cy="913209"/>
          </a:xfrm>
          <a:prstGeom prst="rect">
            <a:avLst/>
          </a:prstGeom>
        </p:spPr>
        <p:txBody>
          <a:bodyPr lIns="0" tIns="0" rIns="0" bIns="0" rtlCol="0" anchor="t">
            <a:spAutoFit/>
          </a:bodyPr>
          <a:lstStyle/>
          <a:p>
            <a:pPr marL="301625" lvl="1" indent="-150812" algn="l">
              <a:lnSpc>
                <a:spcPts val="3250"/>
              </a:lnSpc>
              <a:buFont typeface="Arial"/>
              <a:buChar char="•"/>
            </a:pPr>
            <a:r>
              <a:rPr lang="en-US" sz="2000">
                <a:solidFill>
                  <a:srgbClr val="EBECEF"/>
                </a:solidFill>
                <a:latin typeface="Arimo"/>
                <a:ea typeface="Arimo"/>
                <a:cs typeface="Arimo"/>
                <a:sym typeface="Arimo"/>
              </a:rPr>
              <a:t>Model attention primarily focused on background and margin regions</a:t>
            </a:r>
          </a:p>
        </p:txBody>
      </p:sp>
      <p:sp>
        <p:nvSpPr>
          <p:cNvPr id="18" name="TextBox 18"/>
          <p:cNvSpPr txBox="1"/>
          <p:nvPr/>
        </p:nvSpPr>
        <p:spPr>
          <a:xfrm>
            <a:off x="9560271" y="6952212"/>
            <a:ext cx="7475782" cy="499472"/>
          </a:xfrm>
          <a:prstGeom prst="rect">
            <a:avLst/>
          </a:prstGeom>
        </p:spPr>
        <p:txBody>
          <a:bodyPr lIns="0" tIns="0" rIns="0" bIns="0" rtlCol="0" anchor="t">
            <a:spAutoFit/>
          </a:bodyPr>
          <a:lstStyle/>
          <a:p>
            <a:pPr marL="301625" lvl="1" indent="-150812" algn="l">
              <a:lnSpc>
                <a:spcPts val="3250"/>
              </a:lnSpc>
              <a:buFont typeface="Arial"/>
              <a:buChar char="•"/>
            </a:pPr>
            <a:r>
              <a:rPr lang="en-US" sz="2000">
                <a:solidFill>
                  <a:srgbClr val="EBECEF"/>
                </a:solidFill>
                <a:latin typeface="Arimo"/>
                <a:ea typeface="Arimo"/>
                <a:cs typeface="Arimo"/>
                <a:sym typeface="Arimo"/>
              </a:rPr>
              <a:t>Text content contributed minimally to predictions</a:t>
            </a:r>
          </a:p>
        </p:txBody>
      </p:sp>
      <p:sp>
        <p:nvSpPr>
          <p:cNvPr id="19" name="TextBox 19"/>
          <p:cNvSpPr txBox="1"/>
          <p:nvPr/>
        </p:nvSpPr>
        <p:spPr>
          <a:xfrm>
            <a:off x="9560271" y="7456437"/>
            <a:ext cx="7475782" cy="913209"/>
          </a:xfrm>
          <a:prstGeom prst="rect">
            <a:avLst/>
          </a:prstGeom>
        </p:spPr>
        <p:txBody>
          <a:bodyPr lIns="0" tIns="0" rIns="0" bIns="0" rtlCol="0" anchor="t">
            <a:spAutoFit/>
          </a:bodyPr>
          <a:lstStyle/>
          <a:p>
            <a:pPr marL="301625" lvl="1" indent="-150812" algn="l">
              <a:lnSpc>
                <a:spcPts val="3250"/>
              </a:lnSpc>
              <a:buFont typeface="Arial"/>
              <a:buChar char="•"/>
            </a:pPr>
            <a:r>
              <a:rPr lang="en-US" sz="2000">
                <a:solidFill>
                  <a:srgbClr val="EBECEF"/>
                </a:solidFill>
                <a:latin typeface="Arimo"/>
                <a:ea typeface="Arimo"/>
                <a:cs typeface="Arimo"/>
                <a:sym typeface="Arimo"/>
              </a:rPr>
              <a:t>Strong activation patterns aligned with noise-dominated areas</a:t>
            </a:r>
          </a:p>
        </p:txBody>
      </p:sp>
      <p:sp>
        <p:nvSpPr>
          <p:cNvPr id="20" name="TextBox 20"/>
          <p:cNvSpPr txBox="1"/>
          <p:nvPr/>
        </p:nvSpPr>
        <p:spPr>
          <a:xfrm>
            <a:off x="964854" y="8861822"/>
            <a:ext cx="16358292" cy="499472"/>
          </a:xfrm>
          <a:prstGeom prst="rect">
            <a:avLst/>
          </a:prstGeom>
        </p:spPr>
        <p:txBody>
          <a:bodyPr lIns="0" tIns="0" rIns="0" bIns="0" rtlCol="0" anchor="t">
            <a:spAutoFit/>
          </a:bodyPr>
          <a:lstStyle/>
          <a:p>
            <a:pPr algn="l">
              <a:lnSpc>
                <a:spcPts val="3250"/>
              </a:lnSpc>
            </a:pPr>
            <a:r>
              <a:rPr lang="en-US" sz="2000">
                <a:solidFill>
                  <a:srgbClr val="EBECEF"/>
                </a:solidFill>
                <a:latin typeface="Arimo"/>
                <a:ea typeface="Arimo"/>
                <a:cs typeface="Arimo"/>
                <a:sym typeface="Arimo"/>
              </a:rPr>
              <a:t>These findings confirm that the model learns scanner-specific artifacts rather than document semantics.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A8AFCC"/>
            </a:solidFill>
            <a:ln w="12700">
              <a:solidFill>
                <a:srgbClr val="000000"/>
              </a:solidFill>
            </a:ln>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80E26"/>
            </a:solidFill>
            <a:ln w="12700">
              <a:solidFill>
                <a:srgbClr val="000000"/>
              </a:solidFill>
            </a:ln>
          </p:spPr>
        </p:sp>
      </p:grpSp>
      <p:sp>
        <p:nvSpPr>
          <p:cNvPr id="6" name="Freeform 6" descr="preencoded.png"/>
          <p:cNvSpPr/>
          <p:nvPr/>
        </p:nvSpPr>
        <p:spPr>
          <a:xfrm>
            <a:off x="0" y="0"/>
            <a:ext cx="6858000" cy="10287000"/>
          </a:xfrm>
          <a:custGeom>
            <a:avLst/>
            <a:gdLst/>
            <a:ahLst/>
            <a:cxnLst/>
            <a:rect l="l" t="t" r="r" b="b"/>
            <a:pathLst>
              <a:path w="6858000" h="10287000">
                <a:moveTo>
                  <a:pt x="0" y="0"/>
                </a:moveTo>
                <a:lnTo>
                  <a:pt x="6858000" y="0"/>
                </a:lnTo>
                <a:lnTo>
                  <a:pt x="6858000" y="10287000"/>
                </a:lnTo>
                <a:lnTo>
                  <a:pt x="0" y="10287000"/>
                </a:lnTo>
                <a:lnTo>
                  <a:pt x="0" y="0"/>
                </a:lnTo>
                <a:close/>
              </a:path>
            </a:pathLst>
          </a:custGeom>
          <a:blipFill>
            <a:blip r:embed="rId3"/>
            <a:stretch>
              <a:fillRect/>
            </a:stretch>
          </a:blipFill>
        </p:spPr>
      </p:sp>
      <p:sp>
        <p:nvSpPr>
          <p:cNvPr id="7" name="TextBox 7"/>
          <p:cNvSpPr txBox="1"/>
          <p:nvPr/>
        </p:nvSpPr>
        <p:spPr>
          <a:xfrm>
            <a:off x="7850238" y="1495577"/>
            <a:ext cx="9445523" cy="1790995"/>
          </a:xfrm>
          <a:prstGeom prst="rect">
            <a:avLst/>
          </a:prstGeom>
        </p:spPr>
        <p:txBody>
          <a:bodyPr lIns="0" tIns="0" rIns="0" bIns="0" rtlCol="0" anchor="t">
            <a:spAutoFit/>
          </a:bodyPr>
          <a:lstStyle/>
          <a:p>
            <a:pPr algn="l">
              <a:lnSpc>
                <a:spcPts val="6937"/>
              </a:lnSpc>
            </a:pPr>
            <a:r>
              <a:rPr lang="en-US" sz="5562" b="1">
                <a:solidFill>
                  <a:srgbClr val="FFFFFF"/>
                </a:solidFill>
                <a:latin typeface="Fraunces Bold"/>
                <a:ea typeface="Fraunces Bold"/>
                <a:cs typeface="Fraunces Bold"/>
                <a:sym typeface="Fraunces Bold"/>
              </a:rPr>
              <a:t>Deployment Demonstration</a:t>
            </a:r>
          </a:p>
        </p:txBody>
      </p:sp>
      <p:sp>
        <p:nvSpPr>
          <p:cNvPr id="8" name="TextBox 8"/>
          <p:cNvSpPr txBox="1"/>
          <p:nvPr/>
        </p:nvSpPr>
        <p:spPr>
          <a:xfrm>
            <a:off x="7850238" y="3380927"/>
            <a:ext cx="6196460" cy="550659"/>
          </a:xfrm>
          <a:prstGeom prst="rect">
            <a:avLst/>
          </a:prstGeom>
        </p:spPr>
        <p:txBody>
          <a:bodyPr lIns="0" tIns="0" rIns="0" bIns="0" rtlCol="0" anchor="t">
            <a:spAutoFit/>
          </a:bodyPr>
          <a:lstStyle/>
          <a:p>
            <a:pPr algn="l">
              <a:lnSpc>
                <a:spcPts val="4125"/>
              </a:lnSpc>
            </a:pPr>
            <a:r>
              <a:rPr lang="en-US" sz="3312" b="1">
                <a:solidFill>
                  <a:srgbClr val="FFFFFF"/>
                </a:solidFill>
                <a:latin typeface="Fraunces Bold"/>
                <a:ea typeface="Fraunces Bold"/>
                <a:cs typeface="Fraunces Bold"/>
                <a:sym typeface="Fraunces Bold"/>
              </a:rPr>
              <a:t>Web-Based Inference System</a:t>
            </a:r>
          </a:p>
        </p:txBody>
      </p:sp>
      <p:sp>
        <p:nvSpPr>
          <p:cNvPr id="9" name="TextBox 9"/>
          <p:cNvSpPr txBox="1"/>
          <p:nvPr/>
        </p:nvSpPr>
        <p:spPr>
          <a:xfrm>
            <a:off x="7850238" y="4252017"/>
            <a:ext cx="9445523" cy="1012031"/>
          </a:xfrm>
          <a:prstGeom prst="rect">
            <a:avLst/>
          </a:prstGeom>
        </p:spPr>
        <p:txBody>
          <a:bodyPr lIns="0" tIns="0" rIns="0" bIns="0" rtlCol="0" anchor="t">
            <a:spAutoFit/>
          </a:bodyPr>
          <a:lstStyle/>
          <a:p>
            <a:pPr algn="l">
              <a:lnSpc>
                <a:spcPts val="3562"/>
              </a:lnSpc>
            </a:pPr>
            <a:r>
              <a:rPr lang="en-US" sz="2187">
                <a:solidFill>
                  <a:srgbClr val="EBECEF"/>
                </a:solidFill>
                <a:latin typeface="Arimo"/>
                <a:ea typeface="Arimo"/>
                <a:cs typeface="Arimo"/>
                <a:sym typeface="Arimo"/>
              </a:rPr>
              <a:t>A lightweight web interface was developed to demonstrate real-time scanner prediction.</a:t>
            </a:r>
          </a:p>
        </p:txBody>
      </p:sp>
      <p:sp>
        <p:nvSpPr>
          <p:cNvPr id="10" name="TextBox 10"/>
          <p:cNvSpPr txBox="1"/>
          <p:nvPr/>
        </p:nvSpPr>
        <p:spPr>
          <a:xfrm>
            <a:off x="8275434" y="5797153"/>
            <a:ext cx="9020327" cy="558403"/>
          </a:xfrm>
          <a:prstGeom prst="rect">
            <a:avLst/>
          </a:prstGeom>
        </p:spPr>
        <p:txBody>
          <a:bodyPr lIns="0" tIns="0" rIns="0" bIns="0" rtlCol="0" anchor="t">
            <a:spAutoFit/>
          </a:bodyPr>
          <a:lstStyle/>
          <a:p>
            <a:pPr algn="l">
              <a:lnSpc>
                <a:spcPts val="3562"/>
              </a:lnSpc>
            </a:pPr>
            <a:r>
              <a:rPr lang="en-US" sz="2187" b="1">
                <a:solidFill>
                  <a:srgbClr val="EBECEF"/>
                </a:solidFill>
                <a:latin typeface="Arimo Bold"/>
                <a:ea typeface="Arimo Bold"/>
                <a:cs typeface="Arimo Bold"/>
                <a:sym typeface="Arimo Bold"/>
              </a:rPr>
              <a:t>System Capabilities:</a:t>
            </a:r>
          </a:p>
        </p:txBody>
      </p:sp>
      <p:sp>
        <p:nvSpPr>
          <p:cNvPr id="11" name="TextBox 11"/>
          <p:cNvSpPr txBox="1"/>
          <p:nvPr/>
        </p:nvSpPr>
        <p:spPr>
          <a:xfrm>
            <a:off x="8275434" y="6569716"/>
            <a:ext cx="9020327" cy="558403"/>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EBECEF"/>
                </a:solidFill>
                <a:latin typeface="Arimo"/>
                <a:ea typeface="Arimo"/>
                <a:cs typeface="Arimo"/>
                <a:sym typeface="Arimo"/>
              </a:rPr>
              <a:t>Upload scanned document images</a:t>
            </a:r>
          </a:p>
        </p:txBody>
      </p:sp>
      <p:sp>
        <p:nvSpPr>
          <p:cNvPr id="12" name="TextBox 12"/>
          <p:cNvSpPr txBox="1"/>
          <p:nvPr/>
        </p:nvSpPr>
        <p:spPr>
          <a:xfrm>
            <a:off x="8275434" y="7122471"/>
            <a:ext cx="9020327" cy="558403"/>
          </a:xfrm>
          <a:prstGeom prst="rect">
            <a:avLst/>
          </a:prstGeom>
        </p:spPr>
        <p:txBody>
          <a:bodyPr lIns="0" tIns="0" rIns="0" bIns="0" rtlCol="0" anchor="t">
            <a:spAutoFit/>
          </a:bodyPr>
          <a:lstStyle/>
          <a:p>
            <a:pPr marL="329902" lvl="1" indent="-164951" algn="l">
              <a:lnSpc>
                <a:spcPts val="3562"/>
              </a:lnSpc>
              <a:buFont typeface="Arial"/>
              <a:buChar char="•"/>
            </a:pPr>
            <a:r>
              <a:rPr lang="en-US" sz="2187">
                <a:solidFill>
                  <a:srgbClr val="EBECEF"/>
                </a:solidFill>
                <a:latin typeface="Arimo"/>
                <a:ea typeface="Arimo"/>
                <a:cs typeface="Arimo"/>
                <a:sym typeface="Arimo"/>
              </a:rPr>
              <a:t>Perform consistent preprocessing</a:t>
            </a:r>
          </a:p>
        </p:txBody>
      </p:sp>
      <p:sp>
        <p:nvSpPr>
          <p:cNvPr id="13" name="TextBox 13"/>
          <p:cNvSpPr txBox="1"/>
          <p:nvPr/>
        </p:nvSpPr>
        <p:spPr>
          <a:xfrm>
            <a:off x="8275434" y="7895034"/>
            <a:ext cx="9020327" cy="558403"/>
          </a:xfrm>
          <a:prstGeom prst="rect">
            <a:avLst/>
          </a:prstGeom>
        </p:spPr>
        <p:txBody>
          <a:bodyPr lIns="0" tIns="0" rIns="0" bIns="0" rtlCol="0" anchor="t">
            <a:spAutoFit/>
          </a:bodyPr>
          <a:lstStyle/>
          <a:p>
            <a:pPr algn="l">
              <a:lnSpc>
                <a:spcPts val="3562"/>
              </a:lnSpc>
            </a:pPr>
            <a:r>
              <a:rPr lang="en-US" sz="2187">
                <a:solidFill>
                  <a:srgbClr val="EBECEF"/>
                </a:solidFill>
                <a:latin typeface="Arimo"/>
                <a:ea typeface="Arimo"/>
                <a:cs typeface="Arimo"/>
                <a:sym typeface="Arimo"/>
              </a:rPr>
              <a:t>Output scanner brand predictions with confidence.</a:t>
            </a:r>
          </a:p>
        </p:txBody>
      </p:sp>
      <p:grpSp>
        <p:nvGrpSpPr>
          <p:cNvPr id="14" name="Group 14"/>
          <p:cNvGrpSpPr/>
          <p:nvPr/>
        </p:nvGrpSpPr>
        <p:grpSpPr>
          <a:xfrm>
            <a:off x="7850238" y="5582993"/>
            <a:ext cx="38100" cy="3189389"/>
            <a:chOff x="0" y="0"/>
            <a:chExt cx="50800" cy="4252519"/>
          </a:xfrm>
        </p:grpSpPr>
        <p:sp>
          <p:nvSpPr>
            <p:cNvPr id="15" name="Freeform 15"/>
            <p:cNvSpPr/>
            <p:nvPr/>
          </p:nvSpPr>
          <p:spPr>
            <a:xfrm>
              <a:off x="0" y="0"/>
              <a:ext cx="50800" cy="4252468"/>
            </a:xfrm>
            <a:custGeom>
              <a:avLst/>
              <a:gdLst/>
              <a:ahLst/>
              <a:cxnLst/>
              <a:rect l="l" t="t" r="r" b="b"/>
              <a:pathLst>
                <a:path w="50800" h="4252468">
                  <a:moveTo>
                    <a:pt x="0" y="0"/>
                  </a:moveTo>
                  <a:lnTo>
                    <a:pt x="50800" y="0"/>
                  </a:lnTo>
                  <a:lnTo>
                    <a:pt x="50800" y="4252468"/>
                  </a:lnTo>
                  <a:lnTo>
                    <a:pt x="0" y="4252468"/>
                  </a:lnTo>
                  <a:close/>
                </a:path>
              </a:pathLst>
            </a:custGeom>
            <a:solidFill>
              <a:srgbClr val="8C98CA"/>
            </a:solidFill>
            <a:ln w="12700">
              <a:solidFill>
                <a:srgbClr val="000000"/>
              </a:solidFill>
            </a:ln>
          </p:spPr>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A8AFCC"/>
            </a:solidFill>
            <a:ln w="12700">
              <a:solidFill>
                <a:srgbClr val="000000"/>
              </a:solidFill>
            </a:ln>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80E26"/>
            </a:solidFill>
            <a:ln w="12700">
              <a:solidFill>
                <a:srgbClr val="000000"/>
              </a:solidFill>
            </a:ln>
          </p:spPr>
        </p:sp>
      </p:grpSp>
      <p:sp>
        <p:nvSpPr>
          <p:cNvPr id="6" name="Freeform 6" descr="preencoded.png"/>
          <p:cNvSpPr/>
          <p:nvPr/>
        </p:nvSpPr>
        <p:spPr>
          <a:xfrm>
            <a:off x="11430000" y="0"/>
            <a:ext cx="6858000" cy="10287000"/>
          </a:xfrm>
          <a:custGeom>
            <a:avLst/>
            <a:gdLst/>
            <a:ahLst/>
            <a:cxnLst/>
            <a:rect l="l" t="t" r="r" b="b"/>
            <a:pathLst>
              <a:path w="6858000" h="10287000">
                <a:moveTo>
                  <a:pt x="0" y="0"/>
                </a:moveTo>
                <a:lnTo>
                  <a:pt x="6858000" y="0"/>
                </a:lnTo>
                <a:lnTo>
                  <a:pt x="6858000" y="10287000"/>
                </a:lnTo>
                <a:lnTo>
                  <a:pt x="0" y="10287000"/>
                </a:lnTo>
                <a:lnTo>
                  <a:pt x="0" y="0"/>
                </a:lnTo>
                <a:close/>
              </a:path>
            </a:pathLst>
          </a:custGeom>
          <a:blipFill>
            <a:blip r:embed="rId3"/>
            <a:stretch>
              <a:fillRect/>
            </a:stretch>
          </a:blipFill>
        </p:spPr>
      </p:sp>
      <p:sp>
        <p:nvSpPr>
          <p:cNvPr id="7" name="TextBox 7"/>
          <p:cNvSpPr txBox="1"/>
          <p:nvPr/>
        </p:nvSpPr>
        <p:spPr>
          <a:xfrm>
            <a:off x="969279" y="533791"/>
            <a:ext cx="7967072" cy="905027"/>
          </a:xfrm>
          <a:prstGeom prst="rect">
            <a:avLst/>
          </a:prstGeom>
        </p:spPr>
        <p:txBody>
          <a:bodyPr lIns="0" tIns="0" rIns="0" bIns="0" rtlCol="0" anchor="t">
            <a:spAutoFit/>
          </a:bodyPr>
          <a:lstStyle/>
          <a:p>
            <a:pPr algn="l">
              <a:lnSpc>
                <a:spcPts val="6937"/>
              </a:lnSpc>
            </a:pPr>
            <a:r>
              <a:rPr lang="en-US" sz="5562" b="1" dirty="0">
                <a:solidFill>
                  <a:srgbClr val="FFFFFF"/>
                </a:solidFill>
                <a:latin typeface="Fraunces Bold"/>
                <a:ea typeface="Fraunces Bold"/>
                <a:cs typeface="Fraunces Bold"/>
                <a:sym typeface="Fraunces Bold"/>
              </a:rPr>
              <a:t>Key Results &amp; Insights</a:t>
            </a:r>
          </a:p>
        </p:txBody>
      </p:sp>
      <p:grpSp>
        <p:nvGrpSpPr>
          <p:cNvPr id="8" name="Group 8"/>
          <p:cNvGrpSpPr/>
          <p:nvPr/>
        </p:nvGrpSpPr>
        <p:grpSpPr>
          <a:xfrm>
            <a:off x="987476" y="2412054"/>
            <a:ext cx="4590459" cy="3090567"/>
            <a:chOff x="0" y="0"/>
            <a:chExt cx="6120613" cy="4120756"/>
          </a:xfrm>
        </p:grpSpPr>
        <p:sp>
          <p:nvSpPr>
            <p:cNvPr id="9" name="Freeform 9"/>
            <p:cNvSpPr/>
            <p:nvPr/>
          </p:nvSpPr>
          <p:spPr>
            <a:xfrm>
              <a:off x="6350" y="6350"/>
              <a:ext cx="6107811" cy="4108069"/>
            </a:xfrm>
            <a:custGeom>
              <a:avLst/>
              <a:gdLst/>
              <a:ahLst/>
              <a:cxnLst/>
              <a:rect l="l" t="t" r="r" b="b"/>
              <a:pathLst>
                <a:path w="6107811" h="4108069">
                  <a:moveTo>
                    <a:pt x="0" y="158750"/>
                  </a:moveTo>
                  <a:cubicBezTo>
                    <a:pt x="0" y="71120"/>
                    <a:pt x="71120" y="0"/>
                    <a:pt x="158877" y="0"/>
                  </a:cubicBezTo>
                  <a:lnTo>
                    <a:pt x="5948934" y="0"/>
                  </a:lnTo>
                  <a:cubicBezTo>
                    <a:pt x="6036691" y="0"/>
                    <a:pt x="6107811" y="71120"/>
                    <a:pt x="6107811" y="158750"/>
                  </a:cubicBezTo>
                  <a:lnTo>
                    <a:pt x="6107811" y="3949319"/>
                  </a:lnTo>
                  <a:cubicBezTo>
                    <a:pt x="6107811" y="4036949"/>
                    <a:pt x="6036691" y="4108069"/>
                    <a:pt x="5948934" y="4108069"/>
                  </a:cubicBezTo>
                  <a:lnTo>
                    <a:pt x="158877" y="4108069"/>
                  </a:lnTo>
                  <a:cubicBezTo>
                    <a:pt x="71120" y="4108069"/>
                    <a:pt x="0" y="4036949"/>
                    <a:pt x="0" y="3949319"/>
                  </a:cubicBezTo>
                  <a:close/>
                </a:path>
              </a:pathLst>
            </a:custGeom>
            <a:solidFill>
              <a:srgbClr val="283157"/>
            </a:solidFill>
            <a:ln w="12700">
              <a:solidFill>
                <a:srgbClr val="000000"/>
              </a:solidFill>
            </a:ln>
          </p:spPr>
        </p:sp>
        <p:sp>
          <p:nvSpPr>
            <p:cNvPr id="10" name="Freeform 10"/>
            <p:cNvSpPr/>
            <p:nvPr/>
          </p:nvSpPr>
          <p:spPr>
            <a:xfrm>
              <a:off x="0" y="0"/>
              <a:ext cx="6120511" cy="4120769"/>
            </a:xfrm>
            <a:custGeom>
              <a:avLst/>
              <a:gdLst/>
              <a:ahLst/>
              <a:cxnLst/>
              <a:rect l="l" t="t" r="r" b="b"/>
              <a:pathLst>
                <a:path w="6120511" h="4120769">
                  <a:moveTo>
                    <a:pt x="0" y="165100"/>
                  </a:moveTo>
                  <a:cubicBezTo>
                    <a:pt x="0" y="73914"/>
                    <a:pt x="74041" y="0"/>
                    <a:pt x="165227" y="0"/>
                  </a:cubicBezTo>
                  <a:lnTo>
                    <a:pt x="5955284" y="0"/>
                  </a:lnTo>
                  <a:lnTo>
                    <a:pt x="5955284" y="6350"/>
                  </a:lnTo>
                  <a:lnTo>
                    <a:pt x="5955284" y="0"/>
                  </a:lnTo>
                  <a:cubicBezTo>
                    <a:pt x="6046597" y="0"/>
                    <a:pt x="6120511" y="73914"/>
                    <a:pt x="6120511" y="165100"/>
                  </a:cubicBezTo>
                  <a:lnTo>
                    <a:pt x="6114161" y="165100"/>
                  </a:lnTo>
                  <a:lnTo>
                    <a:pt x="6120511" y="165100"/>
                  </a:lnTo>
                  <a:lnTo>
                    <a:pt x="6120511" y="3955669"/>
                  </a:lnTo>
                  <a:lnTo>
                    <a:pt x="6114161" y="3955669"/>
                  </a:lnTo>
                  <a:lnTo>
                    <a:pt x="6120511" y="3955669"/>
                  </a:lnTo>
                  <a:cubicBezTo>
                    <a:pt x="6120511" y="4046855"/>
                    <a:pt x="6046470" y="4120769"/>
                    <a:pt x="5955284" y="4120769"/>
                  </a:cubicBezTo>
                  <a:lnTo>
                    <a:pt x="5955284" y="4114419"/>
                  </a:lnTo>
                  <a:lnTo>
                    <a:pt x="5955284" y="4120769"/>
                  </a:lnTo>
                  <a:lnTo>
                    <a:pt x="165227" y="4120769"/>
                  </a:lnTo>
                  <a:lnTo>
                    <a:pt x="165227" y="4114419"/>
                  </a:lnTo>
                  <a:lnTo>
                    <a:pt x="165227" y="4120769"/>
                  </a:lnTo>
                  <a:cubicBezTo>
                    <a:pt x="73914" y="4120769"/>
                    <a:pt x="0" y="4046855"/>
                    <a:pt x="0" y="3955669"/>
                  </a:cubicBezTo>
                  <a:lnTo>
                    <a:pt x="0" y="165100"/>
                  </a:lnTo>
                  <a:lnTo>
                    <a:pt x="6350" y="165100"/>
                  </a:lnTo>
                  <a:lnTo>
                    <a:pt x="0" y="165100"/>
                  </a:lnTo>
                  <a:moveTo>
                    <a:pt x="12700" y="165100"/>
                  </a:moveTo>
                  <a:lnTo>
                    <a:pt x="12700" y="3955669"/>
                  </a:lnTo>
                  <a:lnTo>
                    <a:pt x="6350" y="3955669"/>
                  </a:lnTo>
                  <a:lnTo>
                    <a:pt x="12700" y="3955669"/>
                  </a:lnTo>
                  <a:cubicBezTo>
                    <a:pt x="12700" y="4039870"/>
                    <a:pt x="81026" y="4108069"/>
                    <a:pt x="165227" y="4108069"/>
                  </a:cubicBezTo>
                  <a:lnTo>
                    <a:pt x="5955284" y="4108069"/>
                  </a:lnTo>
                  <a:cubicBezTo>
                    <a:pt x="6039612" y="4108069"/>
                    <a:pt x="6107811" y="4039870"/>
                    <a:pt x="6107811" y="3955669"/>
                  </a:cubicBezTo>
                  <a:lnTo>
                    <a:pt x="6107811" y="165100"/>
                  </a:lnTo>
                  <a:cubicBezTo>
                    <a:pt x="6107811" y="80899"/>
                    <a:pt x="6039485" y="12700"/>
                    <a:pt x="5955284" y="12700"/>
                  </a:cubicBezTo>
                  <a:lnTo>
                    <a:pt x="165227" y="12700"/>
                  </a:lnTo>
                  <a:lnTo>
                    <a:pt x="165227" y="6350"/>
                  </a:lnTo>
                  <a:lnTo>
                    <a:pt x="165227" y="12700"/>
                  </a:lnTo>
                  <a:cubicBezTo>
                    <a:pt x="81026" y="12700"/>
                    <a:pt x="12700" y="80899"/>
                    <a:pt x="12700" y="165100"/>
                  </a:cubicBezTo>
                  <a:close/>
                </a:path>
              </a:pathLst>
            </a:custGeom>
            <a:solidFill>
              <a:srgbClr val="414A70"/>
            </a:solidFill>
            <a:ln w="12700">
              <a:solidFill>
                <a:srgbClr val="000000"/>
              </a:solidFill>
            </a:ln>
          </p:spPr>
        </p:sp>
      </p:grpSp>
      <p:grpSp>
        <p:nvGrpSpPr>
          <p:cNvPr id="11" name="Group 11"/>
          <p:cNvGrpSpPr/>
          <p:nvPr/>
        </p:nvGrpSpPr>
        <p:grpSpPr>
          <a:xfrm>
            <a:off x="1285284" y="2709862"/>
            <a:ext cx="850554" cy="850554"/>
            <a:chOff x="0" y="0"/>
            <a:chExt cx="1134072" cy="1134072"/>
          </a:xfrm>
        </p:grpSpPr>
        <p:sp>
          <p:nvSpPr>
            <p:cNvPr id="12" name="Freeform 12"/>
            <p:cNvSpPr/>
            <p:nvPr/>
          </p:nvSpPr>
          <p:spPr>
            <a:xfrm>
              <a:off x="0" y="0"/>
              <a:ext cx="1134110" cy="1134110"/>
            </a:xfrm>
            <a:custGeom>
              <a:avLst/>
              <a:gdLst/>
              <a:ahLst/>
              <a:cxnLst/>
              <a:rect l="l" t="t" r="r" b="b"/>
              <a:pathLst>
                <a:path w="1134110" h="1134110">
                  <a:moveTo>
                    <a:pt x="0" y="567055"/>
                  </a:moveTo>
                  <a:cubicBezTo>
                    <a:pt x="0" y="253873"/>
                    <a:pt x="253873" y="0"/>
                    <a:pt x="567055" y="0"/>
                  </a:cubicBezTo>
                  <a:cubicBezTo>
                    <a:pt x="880237" y="0"/>
                    <a:pt x="1134110" y="253873"/>
                    <a:pt x="1134110" y="567055"/>
                  </a:cubicBezTo>
                  <a:cubicBezTo>
                    <a:pt x="1134110" y="880237"/>
                    <a:pt x="880237" y="1134110"/>
                    <a:pt x="567055" y="1134110"/>
                  </a:cubicBezTo>
                  <a:cubicBezTo>
                    <a:pt x="253873" y="1134110"/>
                    <a:pt x="0" y="880237"/>
                    <a:pt x="0" y="567055"/>
                  </a:cubicBezTo>
                  <a:close/>
                </a:path>
              </a:pathLst>
            </a:custGeom>
            <a:solidFill>
              <a:srgbClr val="8C98CA"/>
            </a:solidFill>
            <a:ln w="12700">
              <a:solidFill>
                <a:srgbClr val="000000"/>
              </a:solidFill>
            </a:ln>
          </p:spPr>
        </p:sp>
      </p:grpSp>
      <p:sp>
        <p:nvSpPr>
          <p:cNvPr id="13" name="Freeform 13" descr="preencoded.png"/>
          <p:cNvSpPr/>
          <p:nvPr/>
        </p:nvSpPr>
        <p:spPr>
          <a:xfrm>
            <a:off x="1519238" y="2943673"/>
            <a:ext cx="382638" cy="382638"/>
          </a:xfrm>
          <a:custGeom>
            <a:avLst/>
            <a:gdLst/>
            <a:ahLst/>
            <a:cxnLst/>
            <a:rect l="l" t="t" r="r" b="b"/>
            <a:pathLst>
              <a:path w="382638" h="382638">
                <a:moveTo>
                  <a:pt x="0" y="0"/>
                </a:moveTo>
                <a:lnTo>
                  <a:pt x="382638" y="0"/>
                </a:lnTo>
                <a:lnTo>
                  <a:pt x="382638" y="382638"/>
                </a:lnTo>
                <a:lnTo>
                  <a:pt x="0" y="38263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TextBox 14"/>
          <p:cNvSpPr txBox="1"/>
          <p:nvPr/>
        </p:nvSpPr>
        <p:spPr>
          <a:xfrm>
            <a:off x="1285284" y="3739153"/>
            <a:ext cx="3994842" cy="1465659"/>
          </a:xfrm>
          <a:prstGeom prst="rect">
            <a:avLst/>
          </a:prstGeom>
        </p:spPr>
        <p:txBody>
          <a:bodyPr lIns="0" tIns="0" rIns="0" bIns="0" rtlCol="0" anchor="t">
            <a:spAutoFit/>
          </a:bodyPr>
          <a:lstStyle/>
          <a:p>
            <a:pPr algn="l">
              <a:lnSpc>
                <a:spcPts val="3562"/>
              </a:lnSpc>
            </a:pPr>
            <a:r>
              <a:rPr lang="en-US" sz="2187">
                <a:solidFill>
                  <a:srgbClr val="EBECEF"/>
                </a:solidFill>
                <a:latin typeface="Arimo"/>
                <a:ea typeface="Arimo"/>
                <a:cs typeface="Arimo"/>
                <a:sym typeface="Arimo"/>
              </a:rPr>
              <a:t>Random Forest performed well under controlled resolution settings</a:t>
            </a:r>
          </a:p>
        </p:txBody>
      </p:sp>
      <p:grpSp>
        <p:nvGrpSpPr>
          <p:cNvPr id="15" name="Group 15"/>
          <p:cNvGrpSpPr/>
          <p:nvPr/>
        </p:nvGrpSpPr>
        <p:grpSpPr>
          <a:xfrm>
            <a:off x="5851922" y="2412054"/>
            <a:ext cx="4590602" cy="3090567"/>
            <a:chOff x="0" y="0"/>
            <a:chExt cx="6120803" cy="4120756"/>
          </a:xfrm>
        </p:grpSpPr>
        <p:sp>
          <p:nvSpPr>
            <p:cNvPr id="16" name="Freeform 16"/>
            <p:cNvSpPr/>
            <p:nvPr/>
          </p:nvSpPr>
          <p:spPr>
            <a:xfrm>
              <a:off x="6350" y="6350"/>
              <a:ext cx="6108065" cy="4108069"/>
            </a:xfrm>
            <a:custGeom>
              <a:avLst/>
              <a:gdLst/>
              <a:ahLst/>
              <a:cxnLst/>
              <a:rect l="l" t="t" r="r" b="b"/>
              <a:pathLst>
                <a:path w="6108065" h="4108069">
                  <a:moveTo>
                    <a:pt x="0" y="158750"/>
                  </a:moveTo>
                  <a:cubicBezTo>
                    <a:pt x="0" y="71120"/>
                    <a:pt x="71120" y="0"/>
                    <a:pt x="158877" y="0"/>
                  </a:cubicBezTo>
                  <a:lnTo>
                    <a:pt x="5949188" y="0"/>
                  </a:lnTo>
                  <a:cubicBezTo>
                    <a:pt x="6036945" y="0"/>
                    <a:pt x="6108065" y="71120"/>
                    <a:pt x="6108065" y="158750"/>
                  </a:cubicBezTo>
                  <a:lnTo>
                    <a:pt x="6108065" y="3949319"/>
                  </a:lnTo>
                  <a:cubicBezTo>
                    <a:pt x="6108065" y="4036949"/>
                    <a:pt x="6036945" y="4108069"/>
                    <a:pt x="5949188" y="4108069"/>
                  </a:cubicBezTo>
                  <a:lnTo>
                    <a:pt x="158877" y="4108069"/>
                  </a:lnTo>
                  <a:cubicBezTo>
                    <a:pt x="71120" y="4108069"/>
                    <a:pt x="0" y="4036949"/>
                    <a:pt x="0" y="3949319"/>
                  </a:cubicBezTo>
                  <a:close/>
                </a:path>
              </a:pathLst>
            </a:custGeom>
            <a:solidFill>
              <a:srgbClr val="283157"/>
            </a:solidFill>
            <a:ln w="12700">
              <a:solidFill>
                <a:srgbClr val="000000"/>
              </a:solidFill>
            </a:ln>
          </p:spPr>
        </p:sp>
        <p:sp>
          <p:nvSpPr>
            <p:cNvPr id="17" name="Freeform 17"/>
            <p:cNvSpPr/>
            <p:nvPr/>
          </p:nvSpPr>
          <p:spPr>
            <a:xfrm>
              <a:off x="0" y="0"/>
              <a:ext cx="6120765" cy="4120769"/>
            </a:xfrm>
            <a:custGeom>
              <a:avLst/>
              <a:gdLst/>
              <a:ahLst/>
              <a:cxnLst/>
              <a:rect l="l" t="t" r="r" b="b"/>
              <a:pathLst>
                <a:path w="6120765" h="4120769">
                  <a:moveTo>
                    <a:pt x="0" y="165100"/>
                  </a:moveTo>
                  <a:cubicBezTo>
                    <a:pt x="0" y="73914"/>
                    <a:pt x="74041" y="0"/>
                    <a:pt x="165227" y="0"/>
                  </a:cubicBezTo>
                  <a:lnTo>
                    <a:pt x="5955538" y="0"/>
                  </a:lnTo>
                  <a:lnTo>
                    <a:pt x="5955538" y="6350"/>
                  </a:lnTo>
                  <a:lnTo>
                    <a:pt x="5955538" y="0"/>
                  </a:lnTo>
                  <a:cubicBezTo>
                    <a:pt x="6046851" y="0"/>
                    <a:pt x="6120765" y="73914"/>
                    <a:pt x="6120765" y="165100"/>
                  </a:cubicBezTo>
                  <a:lnTo>
                    <a:pt x="6114415" y="165100"/>
                  </a:lnTo>
                  <a:lnTo>
                    <a:pt x="6120765" y="165100"/>
                  </a:lnTo>
                  <a:lnTo>
                    <a:pt x="6120765" y="3955669"/>
                  </a:lnTo>
                  <a:lnTo>
                    <a:pt x="6114415" y="3955669"/>
                  </a:lnTo>
                  <a:lnTo>
                    <a:pt x="6120765" y="3955669"/>
                  </a:lnTo>
                  <a:cubicBezTo>
                    <a:pt x="6120765" y="4046855"/>
                    <a:pt x="6046724" y="4120769"/>
                    <a:pt x="5955538" y="4120769"/>
                  </a:cubicBezTo>
                  <a:lnTo>
                    <a:pt x="5955538" y="4114419"/>
                  </a:lnTo>
                  <a:lnTo>
                    <a:pt x="5955538" y="4120769"/>
                  </a:lnTo>
                  <a:lnTo>
                    <a:pt x="165227" y="4120769"/>
                  </a:lnTo>
                  <a:lnTo>
                    <a:pt x="165227" y="4114419"/>
                  </a:lnTo>
                  <a:lnTo>
                    <a:pt x="165227" y="4120769"/>
                  </a:lnTo>
                  <a:cubicBezTo>
                    <a:pt x="73914" y="4120769"/>
                    <a:pt x="0" y="4046855"/>
                    <a:pt x="0" y="3955669"/>
                  </a:cubicBezTo>
                  <a:lnTo>
                    <a:pt x="0" y="165100"/>
                  </a:lnTo>
                  <a:lnTo>
                    <a:pt x="6350" y="165100"/>
                  </a:lnTo>
                  <a:lnTo>
                    <a:pt x="0" y="165100"/>
                  </a:lnTo>
                  <a:moveTo>
                    <a:pt x="12700" y="165100"/>
                  </a:moveTo>
                  <a:lnTo>
                    <a:pt x="12700" y="3955669"/>
                  </a:lnTo>
                  <a:lnTo>
                    <a:pt x="6350" y="3955669"/>
                  </a:lnTo>
                  <a:lnTo>
                    <a:pt x="12700" y="3955669"/>
                  </a:lnTo>
                  <a:cubicBezTo>
                    <a:pt x="12700" y="4039870"/>
                    <a:pt x="81026" y="4108069"/>
                    <a:pt x="165227" y="4108069"/>
                  </a:cubicBezTo>
                  <a:lnTo>
                    <a:pt x="5955538" y="4108069"/>
                  </a:lnTo>
                  <a:cubicBezTo>
                    <a:pt x="6039866" y="4108069"/>
                    <a:pt x="6108065" y="4039870"/>
                    <a:pt x="6108065" y="3955669"/>
                  </a:cubicBezTo>
                  <a:lnTo>
                    <a:pt x="6108065" y="165100"/>
                  </a:lnTo>
                  <a:cubicBezTo>
                    <a:pt x="6108065" y="80899"/>
                    <a:pt x="6039739" y="12700"/>
                    <a:pt x="5955538" y="12700"/>
                  </a:cubicBezTo>
                  <a:lnTo>
                    <a:pt x="165227" y="12700"/>
                  </a:lnTo>
                  <a:lnTo>
                    <a:pt x="165227" y="6350"/>
                  </a:lnTo>
                  <a:lnTo>
                    <a:pt x="165227" y="12700"/>
                  </a:lnTo>
                  <a:cubicBezTo>
                    <a:pt x="81026" y="12700"/>
                    <a:pt x="12700" y="80899"/>
                    <a:pt x="12700" y="165100"/>
                  </a:cubicBezTo>
                  <a:close/>
                </a:path>
              </a:pathLst>
            </a:custGeom>
            <a:solidFill>
              <a:srgbClr val="414A70"/>
            </a:solidFill>
            <a:ln w="12700">
              <a:solidFill>
                <a:srgbClr val="000000"/>
              </a:solidFill>
            </a:ln>
          </p:spPr>
        </p:sp>
      </p:grpSp>
      <p:grpSp>
        <p:nvGrpSpPr>
          <p:cNvPr id="18" name="Group 18"/>
          <p:cNvGrpSpPr/>
          <p:nvPr/>
        </p:nvGrpSpPr>
        <p:grpSpPr>
          <a:xfrm>
            <a:off x="6149731" y="2709862"/>
            <a:ext cx="850554" cy="850554"/>
            <a:chOff x="0" y="0"/>
            <a:chExt cx="1134072" cy="1134072"/>
          </a:xfrm>
        </p:grpSpPr>
        <p:sp>
          <p:nvSpPr>
            <p:cNvPr id="19" name="Freeform 19"/>
            <p:cNvSpPr/>
            <p:nvPr/>
          </p:nvSpPr>
          <p:spPr>
            <a:xfrm>
              <a:off x="0" y="0"/>
              <a:ext cx="1134110" cy="1134110"/>
            </a:xfrm>
            <a:custGeom>
              <a:avLst/>
              <a:gdLst/>
              <a:ahLst/>
              <a:cxnLst/>
              <a:rect l="l" t="t" r="r" b="b"/>
              <a:pathLst>
                <a:path w="1134110" h="1134110">
                  <a:moveTo>
                    <a:pt x="0" y="567055"/>
                  </a:moveTo>
                  <a:cubicBezTo>
                    <a:pt x="0" y="253873"/>
                    <a:pt x="253873" y="0"/>
                    <a:pt x="567055" y="0"/>
                  </a:cubicBezTo>
                  <a:cubicBezTo>
                    <a:pt x="880237" y="0"/>
                    <a:pt x="1134110" y="253873"/>
                    <a:pt x="1134110" y="567055"/>
                  </a:cubicBezTo>
                  <a:cubicBezTo>
                    <a:pt x="1134110" y="880237"/>
                    <a:pt x="880237" y="1134110"/>
                    <a:pt x="567055" y="1134110"/>
                  </a:cubicBezTo>
                  <a:cubicBezTo>
                    <a:pt x="253873" y="1134110"/>
                    <a:pt x="0" y="880237"/>
                    <a:pt x="0" y="567055"/>
                  </a:cubicBezTo>
                  <a:close/>
                </a:path>
              </a:pathLst>
            </a:custGeom>
            <a:solidFill>
              <a:srgbClr val="8C98CA"/>
            </a:solidFill>
            <a:ln w="12700">
              <a:solidFill>
                <a:srgbClr val="000000"/>
              </a:solidFill>
            </a:ln>
          </p:spPr>
        </p:sp>
      </p:grpSp>
      <p:sp>
        <p:nvSpPr>
          <p:cNvPr id="20" name="Freeform 20" descr="preencoded.png"/>
          <p:cNvSpPr/>
          <p:nvPr/>
        </p:nvSpPr>
        <p:spPr>
          <a:xfrm>
            <a:off x="6383684" y="2943673"/>
            <a:ext cx="382638" cy="382638"/>
          </a:xfrm>
          <a:custGeom>
            <a:avLst/>
            <a:gdLst/>
            <a:ahLst/>
            <a:cxnLst/>
            <a:rect l="l" t="t" r="r" b="b"/>
            <a:pathLst>
              <a:path w="382638" h="382638">
                <a:moveTo>
                  <a:pt x="0" y="0"/>
                </a:moveTo>
                <a:lnTo>
                  <a:pt x="382638" y="0"/>
                </a:lnTo>
                <a:lnTo>
                  <a:pt x="382638" y="382638"/>
                </a:lnTo>
                <a:lnTo>
                  <a:pt x="0" y="38263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1" name="TextBox 21"/>
          <p:cNvSpPr txBox="1"/>
          <p:nvPr/>
        </p:nvSpPr>
        <p:spPr>
          <a:xfrm>
            <a:off x="6149731" y="3739153"/>
            <a:ext cx="3994995" cy="1465659"/>
          </a:xfrm>
          <a:prstGeom prst="rect">
            <a:avLst/>
          </a:prstGeom>
        </p:spPr>
        <p:txBody>
          <a:bodyPr lIns="0" tIns="0" rIns="0" bIns="0" rtlCol="0" anchor="t">
            <a:spAutoFit/>
          </a:bodyPr>
          <a:lstStyle/>
          <a:p>
            <a:pPr algn="l">
              <a:lnSpc>
                <a:spcPts val="3562"/>
              </a:lnSpc>
            </a:pPr>
            <a:r>
              <a:rPr lang="en-US" sz="2187">
                <a:solidFill>
                  <a:srgbClr val="EBECEF"/>
                </a:solidFill>
                <a:latin typeface="Arimo"/>
                <a:ea typeface="Arimo"/>
                <a:cs typeface="Arimo"/>
                <a:sym typeface="Arimo"/>
              </a:rPr>
              <a:t>Deep learning models provided superior robustness</a:t>
            </a:r>
          </a:p>
        </p:txBody>
      </p:sp>
      <p:grpSp>
        <p:nvGrpSpPr>
          <p:cNvPr id="22" name="Group 22"/>
          <p:cNvGrpSpPr/>
          <p:nvPr/>
        </p:nvGrpSpPr>
        <p:grpSpPr>
          <a:xfrm>
            <a:off x="987476" y="5776617"/>
            <a:ext cx="9455048" cy="2183311"/>
            <a:chOff x="0" y="0"/>
            <a:chExt cx="12606731" cy="2911081"/>
          </a:xfrm>
        </p:grpSpPr>
        <p:sp>
          <p:nvSpPr>
            <p:cNvPr id="23" name="Freeform 23"/>
            <p:cNvSpPr/>
            <p:nvPr/>
          </p:nvSpPr>
          <p:spPr>
            <a:xfrm>
              <a:off x="6350" y="6350"/>
              <a:ext cx="12593955" cy="2898394"/>
            </a:xfrm>
            <a:custGeom>
              <a:avLst/>
              <a:gdLst/>
              <a:ahLst/>
              <a:cxnLst/>
              <a:rect l="l" t="t" r="r" b="b"/>
              <a:pathLst>
                <a:path w="12593955" h="2898394">
                  <a:moveTo>
                    <a:pt x="0" y="158750"/>
                  </a:moveTo>
                  <a:cubicBezTo>
                    <a:pt x="0" y="71120"/>
                    <a:pt x="71374" y="0"/>
                    <a:pt x="159258" y="0"/>
                  </a:cubicBezTo>
                  <a:lnTo>
                    <a:pt x="12434697" y="0"/>
                  </a:lnTo>
                  <a:cubicBezTo>
                    <a:pt x="12522708" y="0"/>
                    <a:pt x="12593955" y="71120"/>
                    <a:pt x="12593955" y="158750"/>
                  </a:cubicBezTo>
                  <a:lnTo>
                    <a:pt x="12593955" y="2739644"/>
                  </a:lnTo>
                  <a:cubicBezTo>
                    <a:pt x="12593955" y="2827274"/>
                    <a:pt x="12522581" y="2898394"/>
                    <a:pt x="12434697" y="2898394"/>
                  </a:cubicBezTo>
                  <a:lnTo>
                    <a:pt x="159258" y="2898394"/>
                  </a:lnTo>
                  <a:cubicBezTo>
                    <a:pt x="71247" y="2898394"/>
                    <a:pt x="0" y="2827274"/>
                    <a:pt x="0" y="2739644"/>
                  </a:cubicBezTo>
                  <a:close/>
                </a:path>
              </a:pathLst>
            </a:custGeom>
            <a:solidFill>
              <a:srgbClr val="283157"/>
            </a:solidFill>
            <a:ln w="12700">
              <a:solidFill>
                <a:srgbClr val="000000"/>
              </a:solidFill>
            </a:ln>
          </p:spPr>
        </p:sp>
        <p:sp>
          <p:nvSpPr>
            <p:cNvPr id="24" name="Freeform 24"/>
            <p:cNvSpPr/>
            <p:nvPr/>
          </p:nvSpPr>
          <p:spPr>
            <a:xfrm>
              <a:off x="0" y="0"/>
              <a:ext cx="12606655" cy="2911094"/>
            </a:xfrm>
            <a:custGeom>
              <a:avLst/>
              <a:gdLst/>
              <a:ahLst/>
              <a:cxnLst/>
              <a:rect l="l" t="t" r="r" b="b"/>
              <a:pathLst>
                <a:path w="12606655" h="2911094">
                  <a:moveTo>
                    <a:pt x="0" y="165100"/>
                  </a:moveTo>
                  <a:cubicBezTo>
                    <a:pt x="0" y="73914"/>
                    <a:pt x="74168" y="0"/>
                    <a:pt x="165608" y="0"/>
                  </a:cubicBezTo>
                  <a:lnTo>
                    <a:pt x="12441047" y="0"/>
                  </a:lnTo>
                  <a:lnTo>
                    <a:pt x="12441047" y="6350"/>
                  </a:lnTo>
                  <a:lnTo>
                    <a:pt x="12441047" y="0"/>
                  </a:lnTo>
                  <a:cubicBezTo>
                    <a:pt x="12532487" y="0"/>
                    <a:pt x="12606655" y="73914"/>
                    <a:pt x="12606655" y="165100"/>
                  </a:cubicBezTo>
                  <a:lnTo>
                    <a:pt x="12600305" y="165100"/>
                  </a:lnTo>
                  <a:lnTo>
                    <a:pt x="12606655" y="165100"/>
                  </a:lnTo>
                  <a:lnTo>
                    <a:pt x="12606655" y="2745994"/>
                  </a:lnTo>
                  <a:lnTo>
                    <a:pt x="12600305" y="2745994"/>
                  </a:lnTo>
                  <a:lnTo>
                    <a:pt x="12606655" y="2745994"/>
                  </a:lnTo>
                  <a:cubicBezTo>
                    <a:pt x="12606655" y="2837180"/>
                    <a:pt x="12532487" y="2911094"/>
                    <a:pt x="12441047" y="2911094"/>
                  </a:cubicBezTo>
                  <a:lnTo>
                    <a:pt x="12441047" y="2904744"/>
                  </a:lnTo>
                  <a:lnTo>
                    <a:pt x="12441047" y="2911094"/>
                  </a:lnTo>
                  <a:lnTo>
                    <a:pt x="165608" y="2911094"/>
                  </a:lnTo>
                  <a:lnTo>
                    <a:pt x="165608" y="2904744"/>
                  </a:lnTo>
                  <a:lnTo>
                    <a:pt x="165608" y="2911094"/>
                  </a:lnTo>
                  <a:cubicBezTo>
                    <a:pt x="74168" y="2911094"/>
                    <a:pt x="0" y="2837180"/>
                    <a:pt x="0" y="2745994"/>
                  </a:cubicBezTo>
                  <a:lnTo>
                    <a:pt x="0" y="165100"/>
                  </a:lnTo>
                  <a:lnTo>
                    <a:pt x="6350" y="165100"/>
                  </a:lnTo>
                  <a:lnTo>
                    <a:pt x="0" y="165100"/>
                  </a:lnTo>
                  <a:moveTo>
                    <a:pt x="12700" y="165100"/>
                  </a:moveTo>
                  <a:lnTo>
                    <a:pt x="12700" y="2745994"/>
                  </a:lnTo>
                  <a:lnTo>
                    <a:pt x="6350" y="2745994"/>
                  </a:lnTo>
                  <a:lnTo>
                    <a:pt x="12700" y="2745994"/>
                  </a:lnTo>
                  <a:cubicBezTo>
                    <a:pt x="12700" y="2830195"/>
                    <a:pt x="81153" y="2898394"/>
                    <a:pt x="165608" y="2898394"/>
                  </a:cubicBezTo>
                  <a:lnTo>
                    <a:pt x="12441047" y="2898394"/>
                  </a:lnTo>
                  <a:cubicBezTo>
                    <a:pt x="12525502" y="2898394"/>
                    <a:pt x="12593955" y="2830195"/>
                    <a:pt x="12593955" y="2745994"/>
                  </a:cubicBezTo>
                  <a:lnTo>
                    <a:pt x="12593955" y="165100"/>
                  </a:lnTo>
                  <a:cubicBezTo>
                    <a:pt x="12593955" y="80899"/>
                    <a:pt x="12525502" y="12700"/>
                    <a:pt x="12441047" y="12700"/>
                  </a:cubicBezTo>
                  <a:lnTo>
                    <a:pt x="165608" y="12700"/>
                  </a:lnTo>
                  <a:lnTo>
                    <a:pt x="165608" y="6350"/>
                  </a:lnTo>
                  <a:lnTo>
                    <a:pt x="165608" y="12700"/>
                  </a:lnTo>
                  <a:cubicBezTo>
                    <a:pt x="81153" y="12700"/>
                    <a:pt x="12700" y="80899"/>
                    <a:pt x="12700" y="165100"/>
                  </a:cubicBezTo>
                  <a:close/>
                </a:path>
              </a:pathLst>
            </a:custGeom>
            <a:solidFill>
              <a:srgbClr val="414A70"/>
            </a:solidFill>
            <a:ln w="12700">
              <a:solidFill>
                <a:srgbClr val="000000"/>
              </a:solidFill>
            </a:ln>
          </p:spPr>
        </p:sp>
      </p:grpSp>
      <p:grpSp>
        <p:nvGrpSpPr>
          <p:cNvPr id="25" name="Group 25"/>
          <p:cNvGrpSpPr/>
          <p:nvPr/>
        </p:nvGrpSpPr>
        <p:grpSpPr>
          <a:xfrm>
            <a:off x="1285284" y="6074416"/>
            <a:ext cx="850554" cy="850554"/>
            <a:chOff x="0" y="0"/>
            <a:chExt cx="1134072" cy="1134072"/>
          </a:xfrm>
        </p:grpSpPr>
        <p:sp>
          <p:nvSpPr>
            <p:cNvPr id="26" name="Freeform 26"/>
            <p:cNvSpPr/>
            <p:nvPr/>
          </p:nvSpPr>
          <p:spPr>
            <a:xfrm>
              <a:off x="0" y="0"/>
              <a:ext cx="1134110" cy="1134110"/>
            </a:xfrm>
            <a:custGeom>
              <a:avLst/>
              <a:gdLst/>
              <a:ahLst/>
              <a:cxnLst/>
              <a:rect l="l" t="t" r="r" b="b"/>
              <a:pathLst>
                <a:path w="1134110" h="1134110">
                  <a:moveTo>
                    <a:pt x="0" y="567055"/>
                  </a:moveTo>
                  <a:cubicBezTo>
                    <a:pt x="0" y="253873"/>
                    <a:pt x="253873" y="0"/>
                    <a:pt x="567055" y="0"/>
                  </a:cubicBezTo>
                  <a:cubicBezTo>
                    <a:pt x="880237" y="0"/>
                    <a:pt x="1134110" y="253873"/>
                    <a:pt x="1134110" y="567055"/>
                  </a:cubicBezTo>
                  <a:cubicBezTo>
                    <a:pt x="1134110" y="880237"/>
                    <a:pt x="880237" y="1134110"/>
                    <a:pt x="567055" y="1134110"/>
                  </a:cubicBezTo>
                  <a:cubicBezTo>
                    <a:pt x="253873" y="1134110"/>
                    <a:pt x="0" y="880237"/>
                    <a:pt x="0" y="567055"/>
                  </a:cubicBezTo>
                  <a:close/>
                </a:path>
              </a:pathLst>
            </a:custGeom>
            <a:solidFill>
              <a:srgbClr val="8C98CA"/>
            </a:solidFill>
            <a:ln w="12700">
              <a:solidFill>
                <a:srgbClr val="000000"/>
              </a:solidFill>
            </a:ln>
          </p:spPr>
        </p:sp>
      </p:grpSp>
      <p:sp>
        <p:nvSpPr>
          <p:cNvPr id="27" name="Freeform 27" descr="preencoded.png"/>
          <p:cNvSpPr/>
          <p:nvPr/>
        </p:nvSpPr>
        <p:spPr>
          <a:xfrm>
            <a:off x="1519238" y="6308227"/>
            <a:ext cx="382638" cy="382638"/>
          </a:xfrm>
          <a:custGeom>
            <a:avLst/>
            <a:gdLst/>
            <a:ahLst/>
            <a:cxnLst/>
            <a:rect l="l" t="t" r="r" b="b"/>
            <a:pathLst>
              <a:path w="382638" h="382638">
                <a:moveTo>
                  <a:pt x="0" y="0"/>
                </a:moveTo>
                <a:lnTo>
                  <a:pt x="382638" y="0"/>
                </a:lnTo>
                <a:lnTo>
                  <a:pt x="382638" y="382638"/>
                </a:lnTo>
                <a:lnTo>
                  <a:pt x="0" y="382638"/>
                </a:lnTo>
                <a:lnTo>
                  <a:pt x="0" y="0"/>
                </a:lnTo>
                <a:close/>
              </a:path>
            </a:pathLst>
          </a:custGeom>
          <a:blipFill>
            <a:blip r:embed="rId8">
              <a:extLst>
                <a:ext uri="{96DAC541-7B7A-43D3-8B79-37D633B846F1}">
                  <asvg:svgBlip xmlns:asvg="http://schemas.microsoft.com/office/drawing/2016/SVG/main" r:embed="rId9"/>
                </a:ext>
              </a:extLst>
            </a:blip>
            <a:stretch>
              <a:fillRect t="-7316" b="-7318"/>
            </a:stretch>
          </a:blipFill>
        </p:spPr>
      </p:sp>
      <p:sp>
        <p:nvSpPr>
          <p:cNvPr id="28" name="TextBox 28"/>
          <p:cNvSpPr txBox="1"/>
          <p:nvPr/>
        </p:nvSpPr>
        <p:spPr>
          <a:xfrm>
            <a:off x="1285284" y="7103716"/>
            <a:ext cx="8859441" cy="558403"/>
          </a:xfrm>
          <a:prstGeom prst="rect">
            <a:avLst/>
          </a:prstGeom>
        </p:spPr>
        <p:txBody>
          <a:bodyPr lIns="0" tIns="0" rIns="0" bIns="0" rtlCol="0" anchor="t">
            <a:spAutoFit/>
          </a:bodyPr>
          <a:lstStyle/>
          <a:p>
            <a:pPr algn="l">
              <a:lnSpc>
                <a:spcPts val="3562"/>
              </a:lnSpc>
            </a:pPr>
            <a:r>
              <a:rPr lang="en-US" sz="2187">
                <a:solidFill>
                  <a:srgbClr val="EBECEF"/>
                </a:solidFill>
                <a:latin typeface="Arimo"/>
                <a:ea typeface="Arimo"/>
                <a:cs typeface="Arimo"/>
                <a:sym typeface="Arimo"/>
              </a:rPr>
              <a:t>Transfer learning was critical for small forensic datasets</a:t>
            </a:r>
          </a:p>
        </p:txBody>
      </p:sp>
      <p:sp>
        <p:nvSpPr>
          <p:cNvPr id="29" name="TextBox 29"/>
          <p:cNvSpPr txBox="1"/>
          <p:nvPr/>
        </p:nvSpPr>
        <p:spPr>
          <a:xfrm>
            <a:off x="992238" y="8169326"/>
            <a:ext cx="9445523" cy="1012031"/>
          </a:xfrm>
          <a:prstGeom prst="rect">
            <a:avLst/>
          </a:prstGeom>
        </p:spPr>
        <p:txBody>
          <a:bodyPr lIns="0" tIns="0" rIns="0" bIns="0" rtlCol="0" anchor="t">
            <a:spAutoFit/>
          </a:bodyPr>
          <a:lstStyle/>
          <a:p>
            <a:pPr algn="l">
              <a:lnSpc>
                <a:spcPts val="3562"/>
              </a:lnSpc>
            </a:pPr>
            <a:r>
              <a:rPr lang="en-US" sz="2187">
                <a:solidFill>
                  <a:srgbClr val="EBECEF"/>
                </a:solidFill>
                <a:latin typeface="Arimo"/>
                <a:ea typeface="Arimo"/>
                <a:cs typeface="Arimo"/>
                <a:sym typeface="Arimo"/>
              </a:rPr>
              <a:t>Complete pipeline successfully validated from data ingestion to deployment.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A8AFCC"/>
            </a:solidFill>
            <a:ln w="12700">
              <a:solidFill>
                <a:srgbClr val="000000"/>
              </a:solidFill>
            </a:ln>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80E26"/>
            </a:solidFill>
            <a:ln w="12700">
              <a:solidFill>
                <a:srgbClr val="000000"/>
              </a:solidFill>
            </a:ln>
          </p:spPr>
        </p:sp>
      </p:grpSp>
      <p:sp>
        <p:nvSpPr>
          <p:cNvPr id="6" name="Freeform 6" descr="preencoded.png"/>
          <p:cNvSpPr/>
          <p:nvPr/>
        </p:nvSpPr>
        <p:spPr>
          <a:xfrm>
            <a:off x="0" y="0"/>
            <a:ext cx="6858000" cy="10289677"/>
          </a:xfrm>
          <a:custGeom>
            <a:avLst/>
            <a:gdLst/>
            <a:ahLst/>
            <a:cxnLst/>
            <a:rect l="l" t="t" r="r" b="b"/>
            <a:pathLst>
              <a:path w="6858000" h="10289677">
                <a:moveTo>
                  <a:pt x="0" y="0"/>
                </a:moveTo>
                <a:lnTo>
                  <a:pt x="6858000" y="0"/>
                </a:lnTo>
                <a:lnTo>
                  <a:pt x="6858000" y="10289677"/>
                </a:lnTo>
                <a:lnTo>
                  <a:pt x="0" y="10289677"/>
                </a:lnTo>
                <a:lnTo>
                  <a:pt x="0" y="0"/>
                </a:lnTo>
                <a:close/>
              </a:path>
            </a:pathLst>
          </a:custGeom>
          <a:blipFill>
            <a:blip r:embed="rId3"/>
            <a:stretch>
              <a:fillRect l="-13" r="-12"/>
            </a:stretch>
          </a:blipFill>
        </p:spPr>
      </p:sp>
      <p:sp>
        <p:nvSpPr>
          <p:cNvPr id="7" name="TextBox 7"/>
          <p:cNvSpPr txBox="1"/>
          <p:nvPr/>
        </p:nvSpPr>
        <p:spPr>
          <a:xfrm>
            <a:off x="7677445" y="336766"/>
            <a:ext cx="6550228" cy="755009"/>
          </a:xfrm>
          <a:prstGeom prst="rect">
            <a:avLst/>
          </a:prstGeom>
        </p:spPr>
        <p:txBody>
          <a:bodyPr lIns="0" tIns="0" rIns="0" bIns="0" rtlCol="0" anchor="t">
            <a:spAutoFit/>
          </a:bodyPr>
          <a:lstStyle/>
          <a:p>
            <a:pPr algn="l">
              <a:lnSpc>
                <a:spcPts val="5750"/>
              </a:lnSpc>
            </a:pPr>
            <a:r>
              <a:rPr lang="en-US" sz="4625" b="1" dirty="0">
                <a:solidFill>
                  <a:srgbClr val="FFFFFF"/>
                </a:solidFill>
                <a:latin typeface="Fraunces Bold"/>
                <a:ea typeface="Fraunces Bold"/>
                <a:cs typeface="Fraunces Bold"/>
                <a:sym typeface="Fraunces Bold"/>
              </a:rPr>
              <a:t>Practical Applications</a:t>
            </a:r>
          </a:p>
        </p:txBody>
      </p:sp>
      <p:grpSp>
        <p:nvGrpSpPr>
          <p:cNvPr id="8" name="Group 8"/>
          <p:cNvGrpSpPr/>
          <p:nvPr/>
        </p:nvGrpSpPr>
        <p:grpSpPr>
          <a:xfrm>
            <a:off x="7677445" y="1731912"/>
            <a:ext cx="9791109" cy="1809302"/>
            <a:chOff x="0" y="0"/>
            <a:chExt cx="13054813" cy="2412403"/>
          </a:xfrm>
        </p:grpSpPr>
        <p:sp>
          <p:nvSpPr>
            <p:cNvPr id="9" name="Freeform 9"/>
            <p:cNvSpPr/>
            <p:nvPr/>
          </p:nvSpPr>
          <p:spPr>
            <a:xfrm>
              <a:off x="6350" y="6350"/>
              <a:ext cx="13042139" cy="2399665"/>
            </a:xfrm>
            <a:custGeom>
              <a:avLst/>
              <a:gdLst/>
              <a:ahLst/>
              <a:cxnLst/>
              <a:rect l="l" t="t" r="r" b="b"/>
              <a:pathLst>
                <a:path w="13042139" h="2399665">
                  <a:moveTo>
                    <a:pt x="0" y="131826"/>
                  </a:moveTo>
                  <a:cubicBezTo>
                    <a:pt x="0" y="59055"/>
                    <a:pt x="59309" y="0"/>
                    <a:pt x="132461" y="0"/>
                  </a:cubicBezTo>
                  <a:lnTo>
                    <a:pt x="12909677" y="0"/>
                  </a:lnTo>
                  <a:cubicBezTo>
                    <a:pt x="12982829" y="0"/>
                    <a:pt x="13042139" y="59055"/>
                    <a:pt x="13042139" y="131826"/>
                  </a:cubicBezTo>
                  <a:lnTo>
                    <a:pt x="13042139" y="2267839"/>
                  </a:lnTo>
                  <a:cubicBezTo>
                    <a:pt x="13042139" y="2340737"/>
                    <a:pt x="12982829" y="2399665"/>
                    <a:pt x="12909677" y="2399665"/>
                  </a:cubicBezTo>
                  <a:lnTo>
                    <a:pt x="132461" y="2399665"/>
                  </a:lnTo>
                  <a:cubicBezTo>
                    <a:pt x="59309" y="2399665"/>
                    <a:pt x="0" y="2340610"/>
                    <a:pt x="0" y="2267839"/>
                  </a:cubicBezTo>
                  <a:close/>
                </a:path>
              </a:pathLst>
            </a:custGeom>
            <a:solidFill>
              <a:srgbClr val="283157"/>
            </a:solidFill>
            <a:ln w="12700">
              <a:solidFill>
                <a:srgbClr val="000000"/>
              </a:solidFill>
            </a:ln>
          </p:spPr>
        </p:sp>
        <p:sp>
          <p:nvSpPr>
            <p:cNvPr id="10" name="Freeform 10"/>
            <p:cNvSpPr/>
            <p:nvPr/>
          </p:nvSpPr>
          <p:spPr>
            <a:xfrm>
              <a:off x="0" y="0"/>
              <a:ext cx="13054839" cy="2412365"/>
            </a:xfrm>
            <a:custGeom>
              <a:avLst/>
              <a:gdLst/>
              <a:ahLst/>
              <a:cxnLst/>
              <a:rect l="l" t="t" r="r" b="b"/>
              <a:pathLst>
                <a:path w="13054839" h="2412365">
                  <a:moveTo>
                    <a:pt x="0" y="138176"/>
                  </a:moveTo>
                  <a:cubicBezTo>
                    <a:pt x="0" y="61849"/>
                    <a:pt x="62230" y="0"/>
                    <a:pt x="138811" y="0"/>
                  </a:cubicBezTo>
                  <a:lnTo>
                    <a:pt x="12916027" y="0"/>
                  </a:lnTo>
                  <a:lnTo>
                    <a:pt x="12916027" y="6350"/>
                  </a:lnTo>
                  <a:lnTo>
                    <a:pt x="12916027" y="0"/>
                  </a:lnTo>
                  <a:cubicBezTo>
                    <a:pt x="12992608" y="0"/>
                    <a:pt x="13054839" y="61849"/>
                    <a:pt x="13054839" y="138176"/>
                  </a:cubicBezTo>
                  <a:lnTo>
                    <a:pt x="13048489" y="138176"/>
                  </a:lnTo>
                  <a:lnTo>
                    <a:pt x="13054839" y="138176"/>
                  </a:lnTo>
                  <a:lnTo>
                    <a:pt x="13054839" y="2274189"/>
                  </a:lnTo>
                  <a:lnTo>
                    <a:pt x="13048489" y="2274189"/>
                  </a:lnTo>
                  <a:lnTo>
                    <a:pt x="13054839" y="2274189"/>
                  </a:lnTo>
                  <a:cubicBezTo>
                    <a:pt x="13054839" y="2350516"/>
                    <a:pt x="12992608" y="2412365"/>
                    <a:pt x="12916027" y="2412365"/>
                  </a:cubicBezTo>
                  <a:lnTo>
                    <a:pt x="12916027" y="2406015"/>
                  </a:lnTo>
                  <a:lnTo>
                    <a:pt x="12916027" y="2412365"/>
                  </a:lnTo>
                  <a:lnTo>
                    <a:pt x="138811" y="2412365"/>
                  </a:lnTo>
                  <a:lnTo>
                    <a:pt x="138811" y="2406015"/>
                  </a:lnTo>
                  <a:lnTo>
                    <a:pt x="138811" y="2412365"/>
                  </a:lnTo>
                  <a:cubicBezTo>
                    <a:pt x="62230" y="2412365"/>
                    <a:pt x="0" y="2350516"/>
                    <a:pt x="0" y="2274189"/>
                  </a:cubicBezTo>
                  <a:lnTo>
                    <a:pt x="0" y="138176"/>
                  </a:lnTo>
                  <a:lnTo>
                    <a:pt x="6350" y="138176"/>
                  </a:lnTo>
                  <a:lnTo>
                    <a:pt x="0" y="138176"/>
                  </a:lnTo>
                  <a:moveTo>
                    <a:pt x="12700" y="138176"/>
                  </a:moveTo>
                  <a:lnTo>
                    <a:pt x="12700" y="2274189"/>
                  </a:lnTo>
                  <a:lnTo>
                    <a:pt x="6350" y="2274189"/>
                  </a:lnTo>
                  <a:lnTo>
                    <a:pt x="12700" y="2274189"/>
                  </a:lnTo>
                  <a:cubicBezTo>
                    <a:pt x="12700" y="2343531"/>
                    <a:pt x="69088" y="2399665"/>
                    <a:pt x="138811" y="2399665"/>
                  </a:cubicBezTo>
                  <a:lnTo>
                    <a:pt x="12916027" y="2399665"/>
                  </a:lnTo>
                  <a:cubicBezTo>
                    <a:pt x="12985750" y="2399665"/>
                    <a:pt x="13042139" y="2343404"/>
                    <a:pt x="13042139" y="2274189"/>
                  </a:cubicBezTo>
                  <a:lnTo>
                    <a:pt x="13042139" y="138176"/>
                  </a:lnTo>
                  <a:cubicBezTo>
                    <a:pt x="13042139" y="68834"/>
                    <a:pt x="12985750" y="12700"/>
                    <a:pt x="12916027" y="12700"/>
                  </a:cubicBezTo>
                  <a:lnTo>
                    <a:pt x="138811" y="12700"/>
                  </a:lnTo>
                  <a:lnTo>
                    <a:pt x="138811" y="6350"/>
                  </a:lnTo>
                  <a:lnTo>
                    <a:pt x="138811" y="12700"/>
                  </a:lnTo>
                  <a:cubicBezTo>
                    <a:pt x="69088" y="12700"/>
                    <a:pt x="12700" y="68961"/>
                    <a:pt x="12700" y="138176"/>
                  </a:cubicBezTo>
                  <a:close/>
                </a:path>
              </a:pathLst>
            </a:custGeom>
            <a:solidFill>
              <a:srgbClr val="414A70"/>
            </a:solidFill>
            <a:ln w="12700">
              <a:solidFill>
                <a:srgbClr val="000000"/>
              </a:solidFill>
            </a:ln>
          </p:spPr>
        </p:sp>
      </p:grpSp>
      <p:grpSp>
        <p:nvGrpSpPr>
          <p:cNvPr id="11" name="Group 11"/>
          <p:cNvGrpSpPr/>
          <p:nvPr/>
        </p:nvGrpSpPr>
        <p:grpSpPr>
          <a:xfrm>
            <a:off x="7927181" y="1981648"/>
            <a:ext cx="706488" cy="706488"/>
            <a:chOff x="0" y="0"/>
            <a:chExt cx="941984" cy="941984"/>
          </a:xfrm>
        </p:grpSpPr>
        <p:sp>
          <p:nvSpPr>
            <p:cNvPr id="12" name="Freeform 12"/>
            <p:cNvSpPr/>
            <p:nvPr/>
          </p:nvSpPr>
          <p:spPr>
            <a:xfrm>
              <a:off x="0" y="0"/>
              <a:ext cx="941959" cy="941959"/>
            </a:xfrm>
            <a:custGeom>
              <a:avLst/>
              <a:gdLst/>
              <a:ahLst/>
              <a:cxnLst/>
              <a:rect l="l" t="t" r="r" b="b"/>
              <a:pathLst>
                <a:path w="941959" h="941959">
                  <a:moveTo>
                    <a:pt x="0" y="471043"/>
                  </a:moveTo>
                  <a:cubicBezTo>
                    <a:pt x="0" y="210820"/>
                    <a:pt x="210820" y="0"/>
                    <a:pt x="471043" y="0"/>
                  </a:cubicBezTo>
                  <a:cubicBezTo>
                    <a:pt x="731266" y="0"/>
                    <a:pt x="941959" y="210820"/>
                    <a:pt x="941959" y="471043"/>
                  </a:cubicBezTo>
                  <a:cubicBezTo>
                    <a:pt x="941959" y="731266"/>
                    <a:pt x="731139" y="941959"/>
                    <a:pt x="471043" y="941959"/>
                  </a:cubicBezTo>
                  <a:cubicBezTo>
                    <a:pt x="210947" y="941959"/>
                    <a:pt x="0" y="731139"/>
                    <a:pt x="0" y="471043"/>
                  </a:cubicBezTo>
                  <a:close/>
                </a:path>
              </a:pathLst>
            </a:custGeom>
            <a:solidFill>
              <a:srgbClr val="8C98CA"/>
            </a:solidFill>
            <a:ln w="12700">
              <a:solidFill>
                <a:srgbClr val="000000"/>
              </a:solidFill>
            </a:ln>
          </p:spPr>
        </p:sp>
      </p:grpSp>
      <p:sp>
        <p:nvSpPr>
          <p:cNvPr id="13" name="Freeform 13" descr="preencoded.png"/>
          <p:cNvSpPr/>
          <p:nvPr/>
        </p:nvSpPr>
        <p:spPr>
          <a:xfrm>
            <a:off x="8121406" y="2175872"/>
            <a:ext cx="317897" cy="317897"/>
          </a:xfrm>
          <a:custGeom>
            <a:avLst/>
            <a:gdLst/>
            <a:ahLst/>
            <a:cxnLst/>
            <a:rect l="l" t="t" r="r" b="b"/>
            <a:pathLst>
              <a:path w="317897" h="317897">
                <a:moveTo>
                  <a:pt x="0" y="0"/>
                </a:moveTo>
                <a:lnTo>
                  <a:pt x="317896" y="0"/>
                </a:lnTo>
                <a:lnTo>
                  <a:pt x="317896" y="317897"/>
                </a:lnTo>
                <a:lnTo>
                  <a:pt x="0" y="317897"/>
                </a:lnTo>
                <a:lnTo>
                  <a:pt x="0" y="0"/>
                </a:lnTo>
                <a:close/>
              </a:path>
            </a:pathLst>
          </a:custGeom>
          <a:blipFill>
            <a:blip r:embed="rId4">
              <a:extLst>
                <a:ext uri="{96DAC541-7B7A-43D3-8B79-37D633B846F1}">
                  <asvg:svgBlip xmlns:asvg="http://schemas.microsoft.com/office/drawing/2016/SVG/main" r:embed="rId5"/>
                </a:ext>
              </a:extLst>
            </a:blip>
            <a:stretch>
              <a:fillRect t="-10295" b="-10292"/>
            </a:stretch>
          </a:blipFill>
        </p:spPr>
      </p:sp>
      <p:sp>
        <p:nvSpPr>
          <p:cNvPr id="14" name="TextBox 14"/>
          <p:cNvSpPr txBox="1"/>
          <p:nvPr/>
        </p:nvSpPr>
        <p:spPr>
          <a:xfrm>
            <a:off x="7927181" y="2914059"/>
            <a:ext cx="4921006" cy="377428"/>
          </a:xfrm>
          <a:prstGeom prst="rect">
            <a:avLst/>
          </a:prstGeom>
        </p:spPr>
        <p:txBody>
          <a:bodyPr lIns="0" tIns="0" rIns="0" bIns="0" rtlCol="0" anchor="t">
            <a:spAutoFit/>
          </a:bodyPr>
          <a:lstStyle/>
          <a:p>
            <a:pPr algn="l">
              <a:lnSpc>
                <a:spcPts val="2875"/>
              </a:lnSpc>
            </a:pPr>
            <a:r>
              <a:rPr lang="en-US" sz="2312">
                <a:solidFill>
                  <a:srgbClr val="EBECEF"/>
                </a:solidFill>
                <a:latin typeface="Fraunces"/>
                <a:ea typeface="Fraunces"/>
                <a:cs typeface="Fraunces"/>
                <a:sym typeface="Fraunces"/>
              </a:rPr>
              <a:t>Document authenticity verification</a:t>
            </a:r>
          </a:p>
        </p:txBody>
      </p:sp>
      <p:grpSp>
        <p:nvGrpSpPr>
          <p:cNvPr id="15" name="Group 15"/>
          <p:cNvGrpSpPr/>
          <p:nvPr/>
        </p:nvGrpSpPr>
        <p:grpSpPr>
          <a:xfrm>
            <a:off x="7677445" y="3767138"/>
            <a:ext cx="9791109" cy="1809302"/>
            <a:chOff x="0" y="0"/>
            <a:chExt cx="13054813" cy="2412403"/>
          </a:xfrm>
        </p:grpSpPr>
        <p:sp>
          <p:nvSpPr>
            <p:cNvPr id="16" name="Freeform 16"/>
            <p:cNvSpPr/>
            <p:nvPr/>
          </p:nvSpPr>
          <p:spPr>
            <a:xfrm>
              <a:off x="6350" y="6350"/>
              <a:ext cx="13042139" cy="2399665"/>
            </a:xfrm>
            <a:custGeom>
              <a:avLst/>
              <a:gdLst/>
              <a:ahLst/>
              <a:cxnLst/>
              <a:rect l="l" t="t" r="r" b="b"/>
              <a:pathLst>
                <a:path w="13042139" h="2399665">
                  <a:moveTo>
                    <a:pt x="0" y="131826"/>
                  </a:moveTo>
                  <a:cubicBezTo>
                    <a:pt x="0" y="59055"/>
                    <a:pt x="59309" y="0"/>
                    <a:pt x="132461" y="0"/>
                  </a:cubicBezTo>
                  <a:lnTo>
                    <a:pt x="12909677" y="0"/>
                  </a:lnTo>
                  <a:cubicBezTo>
                    <a:pt x="12982829" y="0"/>
                    <a:pt x="13042139" y="59055"/>
                    <a:pt x="13042139" y="131826"/>
                  </a:cubicBezTo>
                  <a:lnTo>
                    <a:pt x="13042139" y="2267839"/>
                  </a:lnTo>
                  <a:cubicBezTo>
                    <a:pt x="13042139" y="2340737"/>
                    <a:pt x="12982829" y="2399665"/>
                    <a:pt x="12909677" y="2399665"/>
                  </a:cubicBezTo>
                  <a:lnTo>
                    <a:pt x="132461" y="2399665"/>
                  </a:lnTo>
                  <a:cubicBezTo>
                    <a:pt x="59309" y="2399665"/>
                    <a:pt x="0" y="2340610"/>
                    <a:pt x="0" y="2267839"/>
                  </a:cubicBezTo>
                  <a:close/>
                </a:path>
              </a:pathLst>
            </a:custGeom>
            <a:solidFill>
              <a:srgbClr val="283157"/>
            </a:solidFill>
            <a:ln w="12700">
              <a:solidFill>
                <a:srgbClr val="000000"/>
              </a:solidFill>
            </a:ln>
          </p:spPr>
        </p:sp>
        <p:sp>
          <p:nvSpPr>
            <p:cNvPr id="17" name="Freeform 17"/>
            <p:cNvSpPr/>
            <p:nvPr/>
          </p:nvSpPr>
          <p:spPr>
            <a:xfrm>
              <a:off x="0" y="0"/>
              <a:ext cx="13054839" cy="2412365"/>
            </a:xfrm>
            <a:custGeom>
              <a:avLst/>
              <a:gdLst/>
              <a:ahLst/>
              <a:cxnLst/>
              <a:rect l="l" t="t" r="r" b="b"/>
              <a:pathLst>
                <a:path w="13054839" h="2412365">
                  <a:moveTo>
                    <a:pt x="0" y="138176"/>
                  </a:moveTo>
                  <a:cubicBezTo>
                    <a:pt x="0" y="61849"/>
                    <a:pt x="62230" y="0"/>
                    <a:pt x="138811" y="0"/>
                  </a:cubicBezTo>
                  <a:lnTo>
                    <a:pt x="12916027" y="0"/>
                  </a:lnTo>
                  <a:lnTo>
                    <a:pt x="12916027" y="6350"/>
                  </a:lnTo>
                  <a:lnTo>
                    <a:pt x="12916027" y="0"/>
                  </a:lnTo>
                  <a:cubicBezTo>
                    <a:pt x="12992608" y="0"/>
                    <a:pt x="13054839" y="61849"/>
                    <a:pt x="13054839" y="138176"/>
                  </a:cubicBezTo>
                  <a:lnTo>
                    <a:pt x="13048489" y="138176"/>
                  </a:lnTo>
                  <a:lnTo>
                    <a:pt x="13054839" y="138176"/>
                  </a:lnTo>
                  <a:lnTo>
                    <a:pt x="13054839" y="2274189"/>
                  </a:lnTo>
                  <a:lnTo>
                    <a:pt x="13048489" y="2274189"/>
                  </a:lnTo>
                  <a:lnTo>
                    <a:pt x="13054839" y="2274189"/>
                  </a:lnTo>
                  <a:cubicBezTo>
                    <a:pt x="13054839" y="2350516"/>
                    <a:pt x="12992608" y="2412365"/>
                    <a:pt x="12916027" y="2412365"/>
                  </a:cubicBezTo>
                  <a:lnTo>
                    <a:pt x="12916027" y="2406015"/>
                  </a:lnTo>
                  <a:lnTo>
                    <a:pt x="12916027" y="2412365"/>
                  </a:lnTo>
                  <a:lnTo>
                    <a:pt x="138811" y="2412365"/>
                  </a:lnTo>
                  <a:lnTo>
                    <a:pt x="138811" y="2406015"/>
                  </a:lnTo>
                  <a:lnTo>
                    <a:pt x="138811" y="2412365"/>
                  </a:lnTo>
                  <a:cubicBezTo>
                    <a:pt x="62230" y="2412365"/>
                    <a:pt x="0" y="2350516"/>
                    <a:pt x="0" y="2274189"/>
                  </a:cubicBezTo>
                  <a:lnTo>
                    <a:pt x="0" y="138176"/>
                  </a:lnTo>
                  <a:lnTo>
                    <a:pt x="6350" y="138176"/>
                  </a:lnTo>
                  <a:lnTo>
                    <a:pt x="0" y="138176"/>
                  </a:lnTo>
                  <a:moveTo>
                    <a:pt x="12700" y="138176"/>
                  </a:moveTo>
                  <a:lnTo>
                    <a:pt x="12700" y="2274189"/>
                  </a:lnTo>
                  <a:lnTo>
                    <a:pt x="6350" y="2274189"/>
                  </a:lnTo>
                  <a:lnTo>
                    <a:pt x="12700" y="2274189"/>
                  </a:lnTo>
                  <a:cubicBezTo>
                    <a:pt x="12700" y="2343531"/>
                    <a:pt x="69088" y="2399665"/>
                    <a:pt x="138811" y="2399665"/>
                  </a:cubicBezTo>
                  <a:lnTo>
                    <a:pt x="12916027" y="2399665"/>
                  </a:lnTo>
                  <a:cubicBezTo>
                    <a:pt x="12985750" y="2399665"/>
                    <a:pt x="13042139" y="2343404"/>
                    <a:pt x="13042139" y="2274189"/>
                  </a:cubicBezTo>
                  <a:lnTo>
                    <a:pt x="13042139" y="138176"/>
                  </a:lnTo>
                  <a:cubicBezTo>
                    <a:pt x="13042139" y="68834"/>
                    <a:pt x="12985750" y="12700"/>
                    <a:pt x="12916027" y="12700"/>
                  </a:cubicBezTo>
                  <a:lnTo>
                    <a:pt x="138811" y="12700"/>
                  </a:lnTo>
                  <a:lnTo>
                    <a:pt x="138811" y="6350"/>
                  </a:lnTo>
                  <a:lnTo>
                    <a:pt x="138811" y="12700"/>
                  </a:lnTo>
                  <a:cubicBezTo>
                    <a:pt x="69088" y="12700"/>
                    <a:pt x="12700" y="68961"/>
                    <a:pt x="12700" y="138176"/>
                  </a:cubicBezTo>
                  <a:close/>
                </a:path>
              </a:pathLst>
            </a:custGeom>
            <a:solidFill>
              <a:srgbClr val="414A70"/>
            </a:solidFill>
            <a:ln w="12700">
              <a:solidFill>
                <a:srgbClr val="000000"/>
              </a:solidFill>
            </a:ln>
          </p:spPr>
        </p:sp>
      </p:grpSp>
      <p:grpSp>
        <p:nvGrpSpPr>
          <p:cNvPr id="18" name="Group 18"/>
          <p:cNvGrpSpPr/>
          <p:nvPr/>
        </p:nvGrpSpPr>
        <p:grpSpPr>
          <a:xfrm>
            <a:off x="7927181" y="4016873"/>
            <a:ext cx="706488" cy="706488"/>
            <a:chOff x="0" y="0"/>
            <a:chExt cx="941984" cy="941984"/>
          </a:xfrm>
        </p:grpSpPr>
        <p:sp>
          <p:nvSpPr>
            <p:cNvPr id="19" name="Freeform 19"/>
            <p:cNvSpPr/>
            <p:nvPr/>
          </p:nvSpPr>
          <p:spPr>
            <a:xfrm>
              <a:off x="0" y="0"/>
              <a:ext cx="941959" cy="941959"/>
            </a:xfrm>
            <a:custGeom>
              <a:avLst/>
              <a:gdLst/>
              <a:ahLst/>
              <a:cxnLst/>
              <a:rect l="l" t="t" r="r" b="b"/>
              <a:pathLst>
                <a:path w="941959" h="941959">
                  <a:moveTo>
                    <a:pt x="0" y="471043"/>
                  </a:moveTo>
                  <a:cubicBezTo>
                    <a:pt x="0" y="210820"/>
                    <a:pt x="210820" y="0"/>
                    <a:pt x="471043" y="0"/>
                  </a:cubicBezTo>
                  <a:cubicBezTo>
                    <a:pt x="731266" y="0"/>
                    <a:pt x="941959" y="210820"/>
                    <a:pt x="941959" y="471043"/>
                  </a:cubicBezTo>
                  <a:cubicBezTo>
                    <a:pt x="941959" y="731266"/>
                    <a:pt x="731139" y="941959"/>
                    <a:pt x="471043" y="941959"/>
                  </a:cubicBezTo>
                  <a:cubicBezTo>
                    <a:pt x="210947" y="941959"/>
                    <a:pt x="0" y="731139"/>
                    <a:pt x="0" y="471043"/>
                  </a:cubicBezTo>
                  <a:close/>
                </a:path>
              </a:pathLst>
            </a:custGeom>
            <a:solidFill>
              <a:srgbClr val="8C98CA"/>
            </a:solidFill>
            <a:ln w="12700">
              <a:solidFill>
                <a:srgbClr val="000000"/>
              </a:solidFill>
            </a:ln>
          </p:spPr>
        </p:sp>
      </p:grpSp>
      <p:sp>
        <p:nvSpPr>
          <p:cNvPr id="20" name="Freeform 20" descr="preencoded.png"/>
          <p:cNvSpPr/>
          <p:nvPr/>
        </p:nvSpPr>
        <p:spPr>
          <a:xfrm>
            <a:off x="8121406" y="4211088"/>
            <a:ext cx="317897" cy="317897"/>
          </a:xfrm>
          <a:custGeom>
            <a:avLst/>
            <a:gdLst/>
            <a:ahLst/>
            <a:cxnLst/>
            <a:rect l="l" t="t" r="r" b="b"/>
            <a:pathLst>
              <a:path w="317897" h="317897">
                <a:moveTo>
                  <a:pt x="0" y="0"/>
                </a:moveTo>
                <a:lnTo>
                  <a:pt x="317896" y="0"/>
                </a:lnTo>
                <a:lnTo>
                  <a:pt x="317896" y="317897"/>
                </a:lnTo>
                <a:lnTo>
                  <a:pt x="0" y="317897"/>
                </a:lnTo>
                <a:lnTo>
                  <a:pt x="0" y="0"/>
                </a:lnTo>
                <a:close/>
              </a:path>
            </a:pathLst>
          </a:custGeom>
          <a:blipFill>
            <a:blip r:embed="rId6">
              <a:extLst>
                <a:ext uri="{96DAC541-7B7A-43D3-8B79-37D633B846F1}">
                  <asvg:svgBlip xmlns:asvg="http://schemas.microsoft.com/office/drawing/2016/SVG/main" r:embed="rId7"/>
                </a:ext>
              </a:extLst>
            </a:blip>
            <a:stretch>
              <a:fillRect t="-1471" b="-1471"/>
            </a:stretch>
          </a:blipFill>
        </p:spPr>
      </p:sp>
      <p:sp>
        <p:nvSpPr>
          <p:cNvPr id="21" name="TextBox 21"/>
          <p:cNvSpPr txBox="1"/>
          <p:nvPr/>
        </p:nvSpPr>
        <p:spPr>
          <a:xfrm>
            <a:off x="7927181" y="4949276"/>
            <a:ext cx="3919985" cy="377428"/>
          </a:xfrm>
          <a:prstGeom prst="rect">
            <a:avLst/>
          </a:prstGeom>
        </p:spPr>
        <p:txBody>
          <a:bodyPr lIns="0" tIns="0" rIns="0" bIns="0" rtlCol="0" anchor="t">
            <a:spAutoFit/>
          </a:bodyPr>
          <a:lstStyle/>
          <a:p>
            <a:pPr algn="l">
              <a:lnSpc>
                <a:spcPts val="2875"/>
              </a:lnSpc>
            </a:pPr>
            <a:r>
              <a:rPr lang="en-US" sz="2312">
                <a:solidFill>
                  <a:srgbClr val="EBECEF"/>
                </a:solidFill>
                <a:latin typeface="Fraunces"/>
                <a:ea typeface="Fraunces"/>
                <a:cs typeface="Fraunces"/>
                <a:sym typeface="Fraunces"/>
              </a:rPr>
              <a:t>Fraud and forgery detection</a:t>
            </a:r>
          </a:p>
        </p:txBody>
      </p:sp>
      <p:grpSp>
        <p:nvGrpSpPr>
          <p:cNvPr id="22" name="Group 22"/>
          <p:cNvGrpSpPr/>
          <p:nvPr/>
        </p:nvGrpSpPr>
        <p:grpSpPr>
          <a:xfrm>
            <a:off x="7677445" y="5802363"/>
            <a:ext cx="9791109" cy="1809302"/>
            <a:chOff x="0" y="0"/>
            <a:chExt cx="13054813" cy="2412403"/>
          </a:xfrm>
        </p:grpSpPr>
        <p:sp>
          <p:nvSpPr>
            <p:cNvPr id="23" name="Freeform 23"/>
            <p:cNvSpPr/>
            <p:nvPr/>
          </p:nvSpPr>
          <p:spPr>
            <a:xfrm>
              <a:off x="6350" y="6350"/>
              <a:ext cx="13042139" cy="2399665"/>
            </a:xfrm>
            <a:custGeom>
              <a:avLst/>
              <a:gdLst/>
              <a:ahLst/>
              <a:cxnLst/>
              <a:rect l="l" t="t" r="r" b="b"/>
              <a:pathLst>
                <a:path w="13042139" h="2399665">
                  <a:moveTo>
                    <a:pt x="0" y="131826"/>
                  </a:moveTo>
                  <a:cubicBezTo>
                    <a:pt x="0" y="59055"/>
                    <a:pt x="59309" y="0"/>
                    <a:pt x="132461" y="0"/>
                  </a:cubicBezTo>
                  <a:lnTo>
                    <a:pt x="12909677" y="0"/>
                  </a:lnTo>
                  <a:cubicBezTo>
                    <a:pt x="12982829" y="0"/>
                    <a:pt x="13042139" y="59055"/>
                    <a:pt x="13042139" y="131826"/>
                  </a:cubicBezTo>
                  <a:lnTo>
                    <a:pt x="13042139" y="2267839"/>
                  </a:lnTo>
                  <a:cubicBezTo>
                    <a:pt x="13042139" y="2340737"/>
                    <a:pt x="12982829" y="2399665"/>
                    <a:pt x="12909677" y="2399665"/>
                  </a:cubicBezTo>
                  <a:lnTo>
                    <a:pt x="132461" y="2399665"/>
                  </a:lnTo>
                  <a:cubicBezTo>
                    <a:pt x="59309" y="2399665"/>
                    <a:pt x="0" y="2340610"/>
                    <a:pt x="0" y="2267839"/>
                  </a:cubicBezTo>
                  <a:close/>
                </a:path>
              </a:pathLst>
            </a:custGeom>
            <a:solidFill>
              <a:srgbClr val="283157"/>
            </a:solidFill>
            <a:ln w="12700">
              <a:solidFill>
                <a:srgbClr val="000000"/>
              </a:solidFill>
            </a:ln>
          </p:spPr>
        </p:sp>
        <p:sp>
          <p:nvSpPr>
            <p:cNvPr id="24" name="Freeform 24"/>
            <p:cNvSpPr/>
            <p:nvPr/>
          </p:nvSpPr>
          <p:spPr>
            <a:xfrm>
              <a:off x="0" y="0"/>
              <a:ext cx="13054839" cy="2412365"/>
            </a:xfrm>
            <a:custGeom>
              <a:avLst/>
              <a:gdLst/>
              <a:ahLst/>
              <a:cxnLst/>
              <a:rect l="l" t="t" r="r" b="b"/>
              <a:pathLst>
                <a:path w="13054839" h="2412365">
                  <a:moveTo>
                    <a:pt x="0" y="138176"/>
                  </a:moveTo>
                  <a:cubicBezTo>
                    <a:pt x="0" y="61849"/>
                    <a:pt x="62230" y="0"/>
                    <a:pt x="138811" y="0"/>
                  </a:cubicBezTo>
                  <a:lnTo>
                    <a:pt x="12916027" y="0"/>
                  </a:lnTo>
                  <a:lnTo>
                    <a:pt x="12916027" y="6350"/>
                  </a:lnTo>
                  <a:lnTo>
                    <a:pt x="12916027" y="0"/>
                  </a:lnTo>
                  <a:cubicBezTo>
                    <a:pt x="12992608" y="0"/>
                    <a:pt x="13054839" y="61849"/>
                    <a:pt x="13054839" y="138176"/>
                  </a:cubicBezTo>
                  <a:lnTo>
                    <a:pt x="13048489" y="138176"/>
                  </a:lnTo>
                  <a:lnTo>
                    <a:pt x="13054839" y="138176"/>
                  </a:lnTo>
                  <a:lnTo>
                    <a:pt x="13054839" y="2274189"/>
                  </a:lnTo>
                  <a:lnTo>
                    <a:pt x="13048489" y="2274189"/>
                  </a:lnTo>
                  <a:lnTo>
                    <a:pt x="13054839" y="2274189"/>
                  </a:lnTo>
                  <a:cubicBezTo>
                    <a:pt x="13054839" y="2350516"/>
                    <a:pt x="12992608" y="2412365"/>
                    <a:pt x="12916027" y="2412365"/>
                  </a:cubicBezTo>
                  <a:lnTo>
                    <a:pt x="12916027" y="2406015"/>
                  </a:lnTo>
                  <a:lnTo>
                    <a:pt x="12916027" y="2412365"/>
                  </a:lnTo>
                  <a:lnTo>
                    <a:pt x="138811" y="2412365"/>
                  </a:lnTo>
                  <a:lnTo>
                    <a:pt x="138811" y="2406015"/>
                  </a:lnTo>
                  <a:lnTo>
                    <a:pt x="138811" y="2412365"/>
                  </a:lnTo>
                  <a:cubicBezTo>
                    <a:pt x="62230" y="2412365"/>
                    <a:pt x="0" y="2350516"/>
                    <a:pt x="0" y="2274189"/>
                  </a:cubicBezTo>
                  <a:lnTo>
                    <a:pt x="0" y="138176"/>
                  </a:lnTo>
                  <a:lnTo>
                    <a:pt x="6350" y="138176"/>
                  </a:lnTo>
                  <a:lnTo>
                    <a:pt x="0" y="138176"/>
                  </a:lnTo>
                  <a:moveTo>
                    <a:pt x="12700" y="138176"/>
                  </a:moveTo>
                  <a:lnTo>
                    <a:pt x="12700" y="2274189"/>
                  </a:lnTo>
                  <a:lnTo>
                    <a:pt x="6350" y="2274189"/>
                  </a:lnTo>
                  <a:lnTo>
                    <a:pt x="12700" y="2274189"/>
                  </a:lnTo>
                  <a:cubicBezTo>
                    <a:pt x="12700" y="2343531"/>
                    <a:pt x="69088" y="2399665"/>
                    <a:pt x="138811" y="2399665"/>
                  </a:cubicBezTo>
                  <a:lnTo>
                    <a:pt x="12916027" y="2399665"/>
                  </a:lnTo>
                  <a:cubicBezTo>
                    <a:pt x="12985750" y="2399665"/>
                    <a:pt x="13042139" y="2343404"/>
                    <a:pt x="13042139" y="2274189"/>
                  </a:cubicBezTo>
                  <a:lnTo>
                    <a:pt x="13042139" y="138176"/>
                  </a:lnTo>
                  <a:cubicBezTo>
                    <a:pt x="13042139" y="68834"/>
                    <a:pt x="12985750" y="12700"/>
                    <a:pt x="12916027" y="12700"/>
                  </a:cubicBezTo>
                  <a:lnTo>
                    <a:pt x="138811" y="12700"/>
                  </a:lnTo>
                  <a:lnTo>
                    <a:pt x="138811" y="6350"/>
                  </a:lnTo>
                  <a:lnTo>
                    <a:pt x="138811" y="12700"/>
                  </a:lnTo>
                  <a:cubicBezTo>
                    <a:pt x="69088" y="12700"/>
                    <a:pt x="12700" y="68961"/>
                    <a:pt x="12700" y="138176"/>
                  </a:cubicBezTo>
                  <a:close/>
                </a:path>
              </a:pathLst>
            </a:custGeom>
            <a:solidFill>
              <a:srgbClr val="414A70"/>
            </a:solidFill>
            <a:ln w="12700">
              <a:solidFill>
                <a:srgbClr val="000000"/>
              </a:solidFill>
            </a:ln>
          </p:spPr>
        </p:sp>
      </p:grpSp>
      <p:grpSp>
        <p:nvGrpSpPr>
          <p:cNvPr id="25" name="Group 25"/>
          <p:cNvGrpSpPr/>
          <p:nvPr/>
        </p:nvGrpSpPr>
        <p:grpSpPr>
          <a:xfrm>
            <a:off x="7927181" y="6052099"/>
            <a:ext cx="706488" cy="706488"/>
            <a:chOff x="0" y="0"/>
            <a:chExt cx="941984" cy="941984"/>
          </a:xfrm>
        </p:grpSpPr>
        <p:sp>
          <p:nvSpPr>
            <p:cNvPr id="26" name="Freeform 26"/>
            <p:cNvSpPr/>
            <p:nvPr/>
          </p:nvSpPr>
          <p:spPr>
            <a:xfrm>
              <a:off x="0" y="0"/>
              <a:ext cx="941959" cy="941959"/>
            </a:xfrm>
            <a:custGeom>
              <a:avLst/>
              <a:gdLst/>
              <a:ahLst/>
              <a:cxnLst/>
              <a:rect l="l" t="t" r="r" b="b"/>
              <a:pathLst>
                <a:path w="941959" h="941959">
                  <a:moveTo>
                    <a:pt x="0" y="471043"/>
                  </a:moveTo>
                  <a:cubicBezTo>
                    <a:pt x="0" y="210820"/>
                    <a:pt x="210820" y="0"/>
                    <a:pt x="471043" y="0"/>
                  </a:cubicBezTo>
                  <a:cubicBezTo>
                    <a:pt x="731266" y="0"/>
                    <a:pt x="941959" y="210820"/>
                    <a:pt x="941959" y="471043"/>
                  </a:cubicBezTo>
                  <a:cubicBezTo>
                    <a:pt x="941959" y="731266"/>
                    <a:pt x="731139" y="941959"/>
                    <a:pt x="471043" y="941959"/>
                  </a:cubicBezTo>
                  <a:cubicBezTo>
                    <a:pt x="210947" y="941959"/>
                    <a:pt x="0" y="731139"/>
                    <a:pt x="0" y="471043"/>
                  </a:cubicBezTo>
                  <a:close/>
                </a:path>
              </a:pathLst>
            </a:custGeom>
            <a:solidFill>
              <a:srgbClr val="8C98CA"/>
            </a:solidFill>
            <a:ln w="12700">
              <a:solidFill>
                <a:srgbClr val="000000"/>
              </a:solidFill>
            </a:ln>
          </p:spPr>
        </p:sp>
      </p:grpSp>
      <p:sp>
        <p:nvSpPr>
          <p:cNvPr id="27" name="Freeform 27" descr="preencoded.png"/>
          <p:cNvSpPr/>
          <p:nvPr/>
        </p:nvSpPr>
        <p:spPr>
          <a:xfrm>
            <a:off x="8121406" y="6246314"/>
            <a:ext cx="317897" cy="317897"/>
          </a:xfrm>
          <a:custGeom>
            <a:avLst/>
            <a:gdLst/>
            <a:ahLst/>
            <a:cxnLst/>
            <a:rect l="l" t="t" r="r" b="b"/>
            <a:pathLst>
              <a:path w="317897" h="317897">
                <a:moveTo>
                  <a:pt x="0" y="0"/>
                </a:moveTo>
                <a:lnTo>
                  <a:pt x="317896" y="0"/>
                </a:lnTo>
                <a:lnTo>
                  <a:pt x="317896" y="317897"/>
                </a:lnTo>
                <a:lnTo>
                  <a:pt x="0" y="317897"/>
                </a:lnTo>
                <a:lnTo>
                  <a:pt x="0" y="0"/>
                </a:lnTo>
                <a:close/>
              </a:path>
            </a:pathLst>
          </a:custGeom>
          <a:blipFill>
            <a:blip r:embed="rId8">
              <a:extLst>
                <a:ext uri="{96DAC541-7B7A-43D3-8B79-37D633B846F1}">
                  <asvg:svgBlip xmlns:asvg="http://schemas.microsoft.com/office/drawing/2016/SVG/main" r:embed="rId9"/>
                </a:ext>
              </a:extLst>
            </a:blip>
            <a:stretch>
              <a:fillRect t="-10295" b="-10292"/>
            </a:stretch>
          </a:blipFill>
        </p:spPr>
      </p:sp>
      <p:sp>
        <p:nvSpPr>
          <p:cNvPr id="28" name="TextBox 28"/>
          <p:cNvSpPr txBox="1"/>
          <p:nvPr/>
        </p:nvSpPr>
        <p:spPr>
          <a:xfrm>
            <a:off x="7927181" y="6984502"/>
            <a:ext cx="3803894" cy="377428"/>
          </a:xfrm>
          <a:prstGeom prst="rect">
            <a:avLst/>
          </a:prstGeom>
        </p:spPr>
        <p:txBody>
          <a:bodyPr lIns="0" tIns="0" rIns="0" bIns="0" rtlCol="0" anchor="t">
            <a:spAutoFit/>
          </a:bodyPr>
          <a:lstStyle/>
          <a:p>
            <a:pPr algn="l">
              <a:lnSpc>
                <a:spcPts val="2875"/>
              </a:lnSpc>
            </a:pPr>
            <a:r>
              <a:rPr lang="en-US" sz="2312">
                <a:solidFill>
                  <a:srgbClr val="EBECEF"/>
                </a:solidFill>
                <a:latin typeface="Fraunces"/>
                <a:ea typeface="Fraunces"/>
                <a:cs typeface="Fraunces"/>
                <a:sym typeface="Fraunces"/>
              </a:rPr>
              <a:t>Forensic source attribution</a:t>
            </a:r>
          </a:p>
        </p:txBody>
      </p:sp>
      <p:grpSp>
        <p:nvGrpSpPr>
          <p:cNvPr id="29" name="Group 29"/>
          <p:cNvGrpSpPr/>
          <p:nvPr/>
        </p:nvGrpSpPr>
        <p:grpSpPr>
          <a:xfrm>
            <a:off x="7677445" y="7837589"/>
            <a:ext cx="9791109" cy="1809302"/>
            <a:chOff x="0" y="0"/>
            <a:chExt cx="13054813" cy="2412403"/>
          </a:xfrm>
        </p:grpSpPr>
        <p:sp>
          <p:nvSpPr>
            <p:cNvPr id="30" name="Freeform 30"/>
            <p:cNvSpPr/>
            <p:nvPr/>
          </p:nvSpPr>
          <p:spPr>
            <a:xfrm>
              <a:off x="6350" y="6350"/>
              <a:ext cx="13042139" cy="2399665"/>
            </a:xfrm>
            <a:custGeom>
              <a:avLst/>
              <a:gdLst/>
              <a:ahLst/>
              <a:cxnLst/>
              <a:rect l="l" t="t" r="r" b="b"/>
              <a:pathLst>
                <a:path w="13042139" h="2399665">
                  <a:moveTo>
                    <a:pt x="0" y="131826"/>
                  </a:moveTo>
                  <a:cubicBezTo>
                    <a:pt x="0" y="59055"/>
                    <a:pt x="59309" y="0"/>
                    <a:pt x="132461" y="0"/>
                  </a:cubicBezTo>
                  <a:lnTo>
                    <a:pt x="12909677" y="0"/>
                  </a:lnTo>
                  <a:cubicBezTo>
                    <a:pt x="12982829" y="0"/>
                    <a:pt x="13042139" y="59055"/>
                    <a:pt x="13042139" y="131826"/>
                  </a:cubicBezTo>
                  <a:lnTo>
                    <a:pt x="13042139" y="2267839"/>
                  </a:lnTo>
                  <a:cubicBezTo>
                    <a:pt x="13042139" y="2340737"/>
                    <a:pt x="12982829" y="2399665"/>
                    <a:pt x="12909677" y="2399665"/>
                  </a:cubicBezTo>
                  <a:lnTo>
                    <a:pt x="132461" y="2399665"/>
                  </a:lnTo>
                  <a:cubicBezTo>
                    <a:pt x="59309" y="2399665"/>
                    <a:pt x="0" y="2340610"/>
                    <a:pt x="0" y="2267839"/>
                  </a:cubicBezTo>
                  <a:close/>
                </a:path>
              </a:pathLst>
            </a:custGeom>
            <a:solidFill>
              <a:srgbClr val="283157"/>
            </a:solidFill>
            <a:ln w="12700">
              <a:solidFill>
                <a:srgbClr val="000000"/>
              </a:solidFill>
            </a:ln>
          </p:spPr>
        </p:sp>
        <p:sp>
          <p:nvSpPr>
            <p:cNvPr id="31" name="Freeform 31"/>
            <p:cNvSpPr/>
            <p:nvPr/>
          </p:nvSpPr>
          <p:spPr>
            <a:xfrm>
              <a:off x="0" y="0"/>
              <a:ext cx="13054839" cy="2412365"/>
            </a:xfrm>
            <a:custGeom>
              <a:avLst/>
              <a:gdLst/>
              <a:ahLst/>
              <a:cxnLst/>
              <a:rect l="l" t="t" r="r" b="b"/>
              <a:pathLst>
                <a:path w="13054839" h="2412365">
                  <a:moveTo>
                    <a:pt x="0" y="138176"/>
                  </a:moveTo>
                  <a:cubicBezTo>
                    <a:pt x="0" y="61849"/>
                    <a:pt x="62230" y="0"/>
                    <a:pt x="138811" y="0"/>
                  </a:cubicBezTo>
                  <a:lnTo>
                    <a:pt x="12916027" y="0"/>
                  </a:lnTo>
                  <a:lnTo>
                    <a:pt x="12916027" y="6350"/>
                  </a:lnTo>
                  <a:lnTo>
                    <a:pt x="12916027" y="0"/>
                  </a:lnTo>
                  <a:cubicBezTo>
                    <a:pt x="12992608" y="0"/>
                    <a:pt x="13054839" y="61849"/>
                    <a:pt x="13054839" y="138176"/>
                  </a:cubicBezTo>
                  <a:lnTo>
                    <a:pt x="13048489" y="138176"/>
                  </a:lnTo>
                  <a:lnTo>
                    <a:pt x="13054839" y="138176"/>
                  </a:lnTo>
                  <a:lnTo>
                    <a:pt x="13054839" y="2274189"/>
                  </a:lnTo>
                  <a:lnTo>
                    <a:pt x="13048489" y="2274189"/>
                  </a:lnTo>
                  <a:lnTo>
                    <a:pt x="13054839" y="2274189"/>
                  </a:lnTo>
                  <a:cubicBezTo>
                    <a:pt x="13054839" y="2350516"/>
                    <a:pt x="12992608" y="2412365"/>
                    <a:pt x="12916027" y="2412365"/>
                  </a:cubicBezTo>
                  <a:lnTo>
                    <a:pt x="12916027" y="2406015"/>
                  </a:lnTo>
                  <a:lnTo>
                    <a:pt x="12916027" y="2412365"/>
                  </a:lnTo>
                  <a:lnTo>
                    <a:pt x="138811" y="2412365"/>
                  </a:lnTo>
                  <a:lnTo>
                    <a:pt x="138811" y="2406015"/>
                  </a:lnTo>
                  <a:lnTo>
                    <a:pt x="138811" y="2412365"/>
                  </a:lnTo>
                  <a:cubicBezTo>
                    <a:pt x="62230" y="2412365"/>
                    <a:pt x="0" y="2350516"/>
                    <a:pt x="0" y="2274189"/>
                  </a:cubicBezTo>
                  <a:lnTo>
                    <a:pt x="0" y="138176"/>
                  </a:lnTo>
                  <a:lnTo>
                    <a:pt x="6350" y="138176"/>
                  </a:lnTo>
                  <a:lnTo>
                    <a:pt x="0" y="138176"/>
                  </a:lnTo>
                  <a:moveTo>
                    <a:pt x="12700" y="138176"/>
                  </a:moveTo>
                  <a:lnTo>
                    <a:pt x="12700" y="2274189"/>
                  </a:lnTo>
                  <a:lnTo>
                    <a:pt x="6350" y="2274189"/>
                  </a:lnTo>
                  <a:lnTo>
                    <a:pt x="12700" y="2274189"/>
                  </a:lnTo>
                  <a:cubicBezTo>
                    <a:pt x="12700" y="2343531"/>
                    <a:pt x="69088" y="2399665"/>
                    <a:pt x="138811" y="2399665"/>
                  </a:cubicBezTo>
                  <a:lnTo>
                    <a:pt x="12916027" y="2399665"/>
                  </a:lnTo>
                  <a:cubicBezTo>
                    <a:pt x="12985750" y="2399665"/>
                    <a:pt x="13042139" y="2343404"/>
                    <a:pt x="13042139" y="2274189"/>
                  </a:cubicBezTo>
                  <a:lnTo>
                    <a:pt x="13042139" y="138176"/>
                  </a:lnTo>
                  <a:cubicBezTo>
                    <a:pt x="13042139" y="68834"/>
                    <a:pt x="12985750" y="12700"/>
                    <a:pt x="12916027" y="12700"/>
                  </a:cubicBezTo>
                  <a:lnTo>
                    <a:pt x="138811" y="12700"/>
                  </a:lnTo>
                  <a:lnTo>
                    <a:pt x="138811" y="6350"/>
                  </a:lnTo>
                  <a:lnTo>
                    <a:pt x="138811" y="12700"/>
                  </a:lnTo>
                  <a:cubicBezTo>
                    <a:pt x="69088" y="12700"/>
                    <a:pt x="12700" y="68961"/>
                    <a:pt x="12700" y="138176"/>
                  </a:cubicBezTo>
                  <a:close/>
                </a:path>
              </a:pathLst>
            </a:custGeom>
            <a:solidFill>
              <a:srgbClr val="414A70"/>
            </a:solidFill>
            <a:ln w="12700">
              <a:solidFill>
                <a:srgbClr val="000000"/>
              </a:solidFill>
            </a:ln>
          </p:spPr>
        </p:sp>
      </p:grpSp>
      <p:grpSp>
        <p:nvGrpSpPr>
          <p:cNvPr id="32" name="Group 32"/>
          <p:cNvGrpSpPr/>
          <p:nvPr/>
        </p:nvGrpSpPr>
        <p:grpSpPr>
          <a:xfrm>
            <a:off x="7927181" y="8087316"/>
            <a:ext cx="706488" cy="706488"/>
            <a:chOff x="0" y="0"/>
            <a:chExt cx="941984" cy="941984"/>
          </a:xfrm>
        </p:grpSpPr>
        <p:sp>
          <p:nvSpPr>
            <p:cNvPr id="33" name="Freeform 33"/>
            <p:cNvSpPr/>
            <p:nvPr/>
          </p:nvSpPr>
          <p:spPr>
            <a:xfrm>
              <a:off x="0" y="0"/>
              <a:ext cx="941959" cy="941959"/>
            </a:xfrm>
            <a:custGeom>
              <a:avLst/>
              <a:gdLst/>
              <a:ahLst/>
              <a:cxnLst/>
              <a:rect l="l" t="t" r="r" b="b"/>
              <a:pathLst>
                <a:path w="941959" h="941959">
                  <a:moveTo>
                    <a:pt x="0" y="471043"/>
                  </a:moveTo>
                  <a:cubicBezTo>
                    <a:pt x="0" y="210820"/>
                    <a:pt x="210820" y="0"/>
                    <a:pt x="471043" y="0"/>
                  </a:cubicBezTo>
                  <a:cubicBezTo>
                    <a:pt x="731266" y="0"/>
                    <a:pt x="941959" y="210820"/>
                    <a:pt x="941959" y="471043"/>
                  </a:cubicBezTo>
                  <a:cubicBezTo>
                    <a:pt x="941959" y="731266"/>
                    <a:pt x="731139" y="941959"/>
                    <a:pt x="471043" y="941959"/>
                  </a:cubicBezTo>
                  <a:cubicBezTo>
                    <a:pt x="210947" y="941959"/>
                    <a:pt x="0" y="731139"/>
                    <a:pt x="0" y="471043"/>
                  </a:cubicBezTo>
                  <a:close/>
                </a:path>
              </a:pathLst>
            </a:custGeom>
            <a:solidFill>
              <a:srgbClr val="8C98CA"/>
            </a:solidFill>
            <a:ln w="12700">
              <a:solidFill>
                <a:srgbClr val="000000"/>
              </a:solidFill>
            </a:ln>
          </p:spPr>
        </p:sp>
      </p:grpSp>
      <p:sp>
        <p:nvSpPr>
          <p:cNvPr id="34" name="Freeform 34" descr="preencoded.png"/>
          <p:cNvSpPr/>
          <p:nvPr/>
        </p:nvSpPr>
        <p:spPr>
          <a:xfrm>
            <a:off x="8121406" y="8281540"/>
            <a:ext cx="317897" cy="317897"/>
          </a:xfrm>
          <a:custGeom>
            <a:avLst/>
            <a:gdLst/>
            <a:ahLst/>
            <a:cxnLst/>
            <a:rect l="l" t="t" r="r" b="b"/>
            <a:pathLst>
              <a:path w="317897" h="317897">
                <a:moveTo>
                  <a:pt x="0" y="0"/>
                </a:moveTo>
                <a:lnTo>
                  <a:pt x="317896" y="0"/>
                </a:lnTo>
                <a:lnTo>
                  <a:pt x="317896" y="317897"/>
                </a:lnTo>
                <a:lnTo>
                  <a:pt x="0" y="317897"/>
                </a:lnTo>
                <a:lnTo>
                  <a:pt x="0" y="0"/>
                </a:lnTo>
                <a:close/>
              </a:path>
            </a:pathLst>
          </a:custGeom>
          <a:blipFill>
            <a:blip r:embed="rId10">
              <a:extLst>
                <a:ext uri="{96DAC541-7B7A-43D3-8B79-37D633B846F1}">
                  <asvg:svgBlip xmlns:asvg="http://schemas.microsoft.com/office/drawing/2016/SVG/main" r:embed="rId11"/>
                </a:ext>
              </a:extLst>
            </a:blip>
            <a:stretch>
              <a:fillRect l="-4410" r="-4413"/>
            </a:stretch>
          </a:blipFill>
        </p:spPr>
      </p:sp>
      <p:sp>
        <p:nvSpPr>
          <p:cNvPr id="35" name="TextBox 35"/>
          <p:cNvSpPr txBox="1"/>
          <p:nvPr/>
        </p:nvSpPr>
        <p:spPr>
          <a:xfrm>
            <a:off x="7927181" y="9019727"/>
            <a:ext cx="5172666" cy="377428"/>
          </a:xfrm>
          <a:prstGeom prst="rect">
            <a:avLst/>
          </a:prstGeom>
        </p:spPr>
        <p:txBody>
          <a:bodyPr lIns="0" tIns="0" rIns="0" bIns="0" rtlCol="0" anchor="t">
            <a:spAutoFit/>
          </a:bodyPr>
          <a:lstStyle/>
          <a:p>
            <a:pPr algn="l">
              <a:lnSpc>
                <a:spcPts val="2875"/>
              </a:lnSpc>
            </a:pPr>
            <a:r>
              <a:rPr lang="en-US" sz="2312">
                <a:solidFill>
                  <a:srgbClr val="EBECEF"/>
                </a:solidFill>
                <a:latin typeface="Fraunces"/>
                <a:ea typeface="Fraunces"/>
                <a:cs typeface="Fraunces"/>
                <a:sym typeface="Fraunces"/>
              </a:rPr>
              <a:t>Legal and institutional investigations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A8AFCC"/>
            </a:solidFill>
            <a:ln w="12700">
              <a:solidFill>
                <a:srgbClr val="000000"/>
              </a:solidFill>
            </a:ln>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80E26"/>
            </a:solidFill>
            <a:ln w="12700">
              <a:solidFill>
                <a:srgbClr val="000000"/>
              </a:solidFill>
            </a:ln>
          </p:spPr>
        </p:sp>
      </p:grpSp>
      <p:sp>
        <p:nvSpPr>
          <p:cNvPr id="6" name="Freeform 6" descr="preencoded.png"/>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7" name="Group 7"/>
          <p:cNvGrpSpPr/>
          <p:nvPr/>
        </p:nvGrpSpPr>
        <p:grpSpPr>
          <a:xfrm>
            <a:off x="0" y="0"/>
            <a:ext cx="18288000" cy="10287000"/>
            <a:chOff x="0" y="0"/>
            <a:chExt cx="24384000" cy="13716000"/>
          </a:xfrm>
        </p:grpSpPr>
        <p:sp>
          <p:nvSpPr>
            <p:cNvPr id="8" name="Freeform 8"/>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80E26">
                <a:alpha val="63922"/>
              </a:srgbClr>
            </a:solidFill>
            <a:ln w="12700">
              <a:solidFill>
                <a:srgbClr val="000000"/>
              </a:solidFill>
            </a:ln>
          </p:spPr>
        </p:sp>
      </p:grpSp>
      <p:sp>
        <p:nvSpPr>
          <p:cNvPr id="9" name="TextBox 9"/>
          <p:cNvSpPr txBox="1"/>
          <p:nvPr/>
        </p:nvSpPr>
        <p:spPr>
          <a:xfrm>
            <a:off x="992238" y="2724445"/>
            <a:ext cx="9781880" cy="1260872"/>
          </a:xfrm>
          <a:prstGeom prst="rect">
            <a:avLst/>
          </a:prstGeom>
        </p:spPr>
        <p:txBody>
          <a:bodyPr lIns="0" tIns="0" rIns="0" bIns="0" rtlCol="0" anchor="t">
            <a:spAutoFit/>
          </a:bodyPr>
          <a:lstStyle/>
          <a:p>
            <a:pPr algn="l">
              <a:lnSpc>
                <a:spcPts val="9625"/>
              </a:lnSpc>
            </a:pPr>
            <a:r>
              <a:rPr lang="en-US" sz="7687">
                <a:solidFill>
                  <a:srgbClr val="FFFFFF"/>
                </a:solidFill>
                <a:latin typeface="Fraunces"/>
                <a:ea typeface="Fraunces"/>
                <a:cs typeface="Fraunces"/>
                <a:sym typeface="Fraunces"/>
              </a:rPr>
              <a:t>Future Scope</a:t>
            </a:r>
          </a:p>
        </p:txBody>
      </p:sp>
      <p:grpSp>
        <p:nvGrpSpPr>
          <p:cNvPr id="10" name="Group 10"/>
          <p:cNvGrpSpPr/>
          <p:nvPr/>
        </p:nvGrpSpPr>
        <p:grpSpPr>
          <a:xfrm>
            <a:off x="992238" y="4835728"/>
            <a:ext cx="5245446" cy="1916163"/>
            <a:chOff x="0" y="0"/>
            <a:chExt cx="6993928" cy="2554884"/>
          </a:xfrm>
        </p:grpSpPr>
        <p:sp>
          <p:nvSpPr>
            <p:cNvPr id="11" name="Freeform 11"/>
            <p:cNvSpPr/>
            <p:nvPr/>
          </p:nvSpPr>
          <p:spPr>
            <a:xfrm>
              <a:off x="0" y="0"/>
              <a:ext cx="6993890" cy="2554859"/>
            </a:xfrm>
            <a:custGeom>
              <a:avLst/>
              <a:gdLst/>
              <a:ahLst/>
              <a:cxnLst/>
              <a:rect l="l" t="t" r="r" b="b"/>
              <a:pathLst>
                <a:path w="6993890" h="2554859">
                  <a:moveTo>
                    <a:pt x="0" y="243840"/>
                  </a:moveTo>
                  <a:cubicBezTo>
                    <a:pt x="0" y="109220"/>
                    <a:pt x="109220" y="0"/>
                    <a:pt x="243840" y="0"/>
                  </a:cubicBezTo>
                  <a:lnTo>
                    <a:pt x="6750050" y="0"/>
                  </a:lnTo>
                  <a:cubicBezTo>
                    <a:pt x="6884670" y="0"/>
                    <a:pt x="6993890" y="109220"/>
                    <a:pt x="6993890" y="243840"/>
                  </a:cubicBezTo>
                  <a:lnTo>
                    <a:pt x="6993890" y="2311019"/>
                  </a:lnTo>
                  <a:cubicBezTo>
                    <a:pt x="6993890" y="2445639"/>
                    <a:pt x="6884670" y="2554859"/>
                    <a:pt x="6750050" y="2554859"/>
                  </a:cubicBezTo>
                  <a:lnTo>
                    <a:pt x="243840" y="2554859"/>
                  </a:lnTo>
                  <a:cubicBezTo>
                    <a:pt x="109220" y="2554859"/>
                    <a:pt x="0" y="2445639"/>
                    <a:pt x="0" y="2311019"/>
                  </a:cubicBezTo>
                  <a:close/>
                </a:path>
              </a:pathLst>
            </a:custGeom>
            <a:solidFill>
              <a:srgbClr val="080E26"/>
            </a:solidFill>
            <a:ln w="12700">
              <a:solidFill>
                <a:srgbClr val="000000"/>
              </a:solidFill>
            </a:ln>
          </p:spPr>
        </p:sp>
      </p:grpSp>
      <p:grpSp>
        <p:nvGrpSpPr>
          <p:cNvPr id="12" name="Group 12"/>
          <p:cNvGrpSpPr/>
          <p:nvPr/>
        </p:nvGrpSpPr>
        <p:grpSpPr>
          <a:xfrm>
            <a:off x="992238" y="4797628"/>
            <a:ext cx="5245446" cy="152400"/>
            <a:chOff x="0" y="0"/>
            <a:chExt cx="6993928" cy="203200"/>
          </a:xfrm>
        </p:grpSpPr>
        <p:sp>
          <p:nvSpPr>
            <p:cNvPr id="13" name="Freeform 13"/>
            <p:cNvSpPr/>
            <p:nvPr/>
          </p:nvSpPr>
          <p:spPr>
            <a:xfrm>
              <a:off x="0" y="0"/>
              <a:ext cx="6993890" cy="203200"/>
            </a:xfrm>
            <a:custGeom>
              <a:avLst/>
              <a:gdLst/>
              <a:ahLst/>
              <a:cxnLst/>
              <a:rect l="l" t="t" r="r" b="b"/>
              <a:pathLst>
                <a:path w="6993890" h="203200">
                  <a:moveTo>
                    <a:pt x="0" y="101600"/>
                  </a:moveTo>
                  <a:cubicBezTo>
                    <a:pt x="0" y="45466"/>
                    <a:pt x="45466" y="0"/>
                    <a:pt x="101600" y="0"/>
                  </a:cubicBezTo>
                  <a:lnTo>
                    <a:pt x="6892290" y="0"/>
                  </a:lnTo>
                  <a:cubicBezTo>
                    <a:pt x="6948424" y="0"/>
                    <a:pt x="6993890" y="45466"/>
                    <a:pt x="6993890" y="101600"/>
                  </a:cubicBezTo>
                  <a:cubicBezTo>
                    <a:pt x="6993890" y="157734"/>
                    <a:pt x="6948424" y="203200"/>
                    <a:pt x="6892290" y="203200"/>
                  </a:cubicBezTo>
                  <a:lnTo>
                    <a:pt x="101600" y="203200"/>
                  </a:lnTo>
                  <a:cubicBezTo>
                    <a:pt x="45466" y="203200"/>
                    <a:pt x="0" y="157734"/>
                    <a:pt x="0" y="101600"/>
                  </a:cubicBezTo>
                  <a:close/>
                </a:path>
              </a:pathLst>
            </a:custGeom>
            <a:solidFill>
              <a:srgbClr val="8C98CA"/>
            </a:solidFill>
            <a:ln w="12700">
              <a:solidFill>
                <a:srgbClr val="000000"/>
              </a:solidFill>
            </a:ln>
          </p:spPr>
        </p:sp>
      </p:grpSp>
      <p:grpSp>
        <p:nvGrpSpPr>
          <p:cNvPr id="14" name="Group 14"/>
          <p:cNvGrpSpPr/>
          <p:nvPr/>
        </p:nvGrpSpPr>
        <p:grpSpPr>
          <a:xfrm>
            <a:off x="3189608" y="4410523"/>
            <a:ext cx="850554" cy="850554"/>
            <a:chOff x="0" y="0"/>
            <a:chExt cx="1134072" cy="1134072"/>
          </a:xfrm>
        </p:grpSpPr>
        <p:sp>
          <p:nvSpPr>
            <p:cNvPr id="15" name="Freeform 15"/>
            <p:cNvSpPr/>
            <p:nvPr/>
          </p:nvSpPr>
          <p:spPr>
            <a:xfrm>
              <a:off x="0" y="0"/>
              <a:ext cx="1134110" cy="1134110"/>
            </a:xfrm>
            <a:custGeom>
              <a:avLst/>
              <a:gdLst/>
              <a:ahLst/>
              <a:cxnLst/>
              <a:rect l="l" t="t" r="r" b="b"/>
              <a:pathLst>
                <a:path w="1134110" h="1134110">
                  <a:moveTo>
                    <a:pt x="0" y="567055"/>
                  </a:moveTo>
                  <a:cubicBezTo>
                    <a:pt x="0" y="253873"/>
                    <a:pt x="253873" y="0"/>
                    <a:pt x="567055" y="0"/>
                  </a:cubicBezTo>
                  <a:cubicBezTo>
                    <a:pt x="880237" y="0"/>
                    <a:pt x="1134110" y="253873"/>
                    <a:pt x="1134110" y="567055"/>
                  </a:cubicBezTo>
                  <a:cubicBezTo>
                    <a:pt x="1134110" y="880237"/>
                    <a:pt x="880237" y="1134110"/>
                    <a:pt x="567055" y="1134110"/>
                  </a:cubicBezTo>
                  <a:cubicBezTo>
                    <a:pt x="253873" y="1134110"/>
                    <a:pt x="0" y="880237"/>
                    <a:pt x="0" y="567055"/>
                  </a:cubicBezTo>
                  <a:close/>
                </a:path>
              </a:pathLst>
            </a:custGeom>
            <a:solidFill>
              <a:srgbClr val="8C98CA"/>
            </a:solidFill>
            <a:ln w="12700">
              <a:solidFill>
                <a:srgbClr val="000000"/>
              </a:solidFill>
            </a:ln>
          </p:spPr>
        </p:sp>
      </p:grpSp>
      <p:sp>
        <p:nvSpPr>
          <p:cNvPr id="16" name="TextBox 16"/>
          <p:cNvSpPr txBox="1"/>
          <p:nvPr/>
        </p:nvSpPr>
        <p:spPr>
          <a:xfrm>
            <a:off x="3444697" y="4518422"/>
            <a:ext cx="340223" cy="529981"/>
          </a:xfrm>
          <a:prstGeom prst="rect">
            <a:avLst/>
          </a:prstGeom>
        </p:spPr>
        <p:txBody>
          <a:bodyPr lIns="0" tIns="0" rIns="0" bIns="0" rtlCol="0" anchor="t">
            <a:spAutoFit/>
          </a:bodyPr>
          <a:lstStyle/>
          <a:p>
            <a:pPr algn="l">
              <a:lnSpc>
                <a:spcPts val="4250"/>
              </a:lnSpc>
            </a:pPr>
            <a:r>
              <a:rPr lang="en-US" sz="2625">
                <a:solidFill>
                  <a:srgbClr val="000000"/>
                </a:solidFill>
                <a:latin typeface="Fraunces"/>
                <a:ea typeface="Fraunces"/>
                <a:cs typeface="Fraunces"/>
                <a:sym typeface="Fraunces"/>
              </a:rPr>
              <a:t>1</a:t>
            </a:r>
          </a:p>
        </p:txBody>
      </p:sp>
      <p:sp>
        <p:nvSpPr>
          <p:cNvPr id="17" name="TextBox 17"/>
          <p:cNvSpPr txBox="1"/>
          <p:nvPr/>
        </p:nvSpPr>
        <p:spPr>
          <a:xfrm>
            <a:off x="1313859" y="5534920"/>
            <a:ext cx="4602213" cy="895350"/>
          </a:xfrm>
          <a:prstGeom prst="rect">
            <a:avLst/>
          </a:prstGeom>
        </p:spPr>
        <p:txBody>
          <a:bodyPr lIns="0" tIns="0" rIns="0" bIns="0" rtlCol="0" anchor="t">
            <a:spAutoFit/>
          </a:bodyPr>
          <a:lstStyle/>
          <a:p>
            <a:pPr algn="l">
              <a:lnSpc>
                <a:spcPts val="3437"/>
              </a:lnSpc>
            </a:pPr>
            <a:r>
              <a:rPr lang="en-US" sz="2750">
                <a:solidFill>
                  <a:srgbClr val="EBECEF"/>
                </a:solidFill>
                <a:latin typeface="Fraunces"/>
                <a:ea typeface="Fraunces"/>
                <a:cs typeface="Fraunces"/>
                <a:sym typeface="Fraunces"/>
              </a:rPr>
              <a:t>Expansion to additional scanner models</a:t>
            </a:r>
          </a:p>
        </p:txBody>
      </p:sp>
      <p:grpSp>
        <p:nvGrpSpPr>
          <p:cNvPr id="18" name="Group 18"/>
          <p:cNvGrpSpPr/>
          <p:nvPr/>
        </p:nvGrpSpPr>
        <p:grpSpPr>
          <a:xfrm>
            <a:off x="6521206" y="4835728"/>
            <a:ext cx="5245446" cy="1916163"/>
            <a:chOff x="0" y="0"/>
            <a:chExt cx="6993928" cy="2554884"/>
          </a:xfrm>
        </p:grpSpPr>
        <p:sp>
          <p:nvSpPr>
            <p:cNvPr id="19" name="Freeform 19"/>
            <p:cNvSpPr/>
            <p:nvPr/>
          </p:nvSpPr>
          <p:spPr>
            <a:xfrm>
              <a:off x="0" y="0"/>
              <a:ext cx="6993890" cy="2554859"/>
            </a:xfrm>
            <a:custGeom>
              <a:avLst/>
              <a:gdLst/>
              <a:ahLst/>
              <a:cxnLst/>
              <a:rect l="l" t="t" r="r" b="b"/>
              <a:pathLst>
                <a:path w="6993890" h="2554859">
                  <a:moveTo>
                    <a:pt x="0" y="243840"/>
                  </a:moveTo>
                  <a:cubicBezTo>
                    <a:pt x="0" y="109220"/>
                    <a:pt x="109220" y="0"/>
                    <a:pt x="243840" y="0"/>
                  </a:cubicBezTo>
                  <a:lnTo>
                    <a:pt x="6750050" y="0"/>
                  </a:lnTo>
                  <a:cubicBezTo>
                    <a:pt x="6884670" y="0"/>
                    <a:pt x="6993890" y="109220"/>
                    <a:pt x="6993890" y="243840"/>
                  </a:cubicBezTo>
                  <a:lnTo>
                    <a:pt x="6993890" y="2311019"/>
                  </a:lnTo>
                  <a:cubicBezTo>
                    <a:pt x="6993890" y="2445639"/>
                    <a:pt x="6884670" y="2554859"/>
                    <a:pt x="6750050" y="2554859"/>
                  </a:cubicBezTo>
                  <a:lnTo>
                    <a:pt x="243840" y="2554859"/>
                  </a:lnTo>
                  <a:cubicBezTo>
                    <a:pt x="109220" y="2554859"/>
                    <a:pt x="0" y="2445639"/>
                    <a:pt x="0" y="2311019"/>
                  </a:cubicBezTo>
                  <a:close/>
                </a:path>
              </a:pathLst>
            </a:custGeom>
            <a:solidFill>
              <a:srgbClr val="080E26"/>
            </a:solidFill>
            <a:ln w="12700">
              <a:solidFill>
                <a:srgbClr val="000000"/>
              </a:solidFill>
            </a:ln>
          </p:spPr>
        </p:sp>
      </p:grpSp>
      <p:grpSp>
        <p:nvGrpSpPr>
          <p:cNvPr id="20" name="Group 20"/>
          <p:cNvGrpSpPr/>
          <p:nvPr/>
        </p:nvGrpSpPr>
        <p:grpSpPr>
          <a:xfrm>
            <a:off x="6521206" y="4797628"/>
            <a:ext cx="5245446" cy="152400"/>
            <a:chOff x="0" y="0"/>
            <a:chExt cx="6993928" cy="203200"/>
          </a:xfrm>
        </p:grpSpPr>
        <p:sp>
          <p:nvSpPr>
            <p:cNvPr id="21" name="Freeform 21"/>
            <p:cNvSpPr/>
            <p:nvPr/>
          </p:nvSpPr>
          <p:spPr>
            <a:xfrm>
              <a:off x="0" y="0"/>
              <a:ext cx="6993890" cy="203200"/>
            </a:xfrm>
            <a:custGeom>
              <a:avLst/>
              <a:gdLst/>
              <a:ahLst/>
              <a:cxnLst/>
              <a:rect l="l" t="t" r="r" b="b"/>
              <a:pathLst>
                <a:path w="6993890" h="203200">
                  <a:moveTo>
                    <a:pt x="0" y="101600"/>
                  </a:moveTo>
                  <a:cubicBezTo>
                    <a:pt x="0" y="45466"/>
                    <a:pt x="45466" y="0"/>
                    <a:pt x="101600" y="0"/>
                  </a:cubicBezTo>
                  <a:lnTo>
                    <a:pt x="6892290" y="0"/>
                  </a:lnTo>
                  <a:cubicBezTo>
                    <a:pt x="6948424" y="0"/>
                    <a:pt x="6993890" y="45466"/>
                    <a:pt x="6993890" y="101600"/>
                  </a:cubicBezTo>
                  <a:cubicBezTo>
                    <a:pt x="6993890" y="157734"/>
                    <a:pt x="6948424" y="203200"/>
                    <a:pt x="6892290" y="203200"/>
                  </a:cubicBezTo>
                  <a:lnTo>
                    <a:pt x="101600" y="203200"/>
                  </a:lnTo>
                  <a:cubicBezTo>
                    <a:pt x="45466" y="203200"/>
                    <a:pt x="0" y="157734"/>
                    <a:pt x="0" y="101600"/>
                  </a:cubicBezTo>
                  <a:close/>
                </a:path>
              </a:pathLst>
            </a:custGeom>
            <a:solidFill>
              <a:srgbClr val="8C98CA"/>
            </a:solidFill>
            <a:ln w="12700">
              <a:solidFill>
                <a:srgbClr val="000000"/>
              </a:solidFill>
            </a:ln>
          </p:spPr>
        </p:sp>
      </p:grpSp>
      <p:grpSp>
        <p:nvGrpSpPr>
          <p:cNvPr id="22" name="Group 22"/>
          <p:cNvGrpSpPr/>
          <p:nvPr/>
        </p:nvGrpSpPr>
        <p:grpSpPr>
          <a:xfrm>
            <a:off x="8718575" y="4410523"/>
            <a:ext cx="850554" cy="850554"/>
            <a:chOff x="0" y="0"/>
            <a:chExt cx="1134072" cy="1134072"/>
          </a:xfrm>
        </p:grpSpPr>
        <p:sp>
          <p:nvSpPr>
            <p:cNvPr id="23" name="Freeform 23"/>
            <p:cNvSpPr/>
            <p:nvPr/>
          </p:nvSpPr>
          <p:spPr>
            <a:xfrm>
              <a:off x="0" y="0"/>
              <a:ext cx="1134110" cy="1134110"/>
            </a:xfrm>
            <a:custGeom>
              <a:avLst/>
              <a:gdLst/>
              <a:ahLst/>
              <a:cxnLst/>
              <a:rect l="l" t="t" r="r" b="b"/>
              <a:pathLst>
                <a:path w="1134110" h="1134110">
                  <a:moveTo>
                    <a:pt x="0" y="567055"/>
                  </a:moveTo>
                  <a:cubicBezTo>
                    <a:pt x="0" y="253873"/>
                    <a:pt x="253873" y="0"/>
                    <a:pt x="567055" y="0"/>
                  </a:cubicBezTo>
                  <a:cubicBezTo>
                    <a:pt x="880237" y="0"/>
                    <a:pt x="1134110" y="253873"/>
                    <a:pt x="1134110" y="567055"/>
                  </a:cubicBezTo>
                  <a:cubicBezTo>
                    <a:pt x="1134110" y="880237"/>
                    <a:pt x="880237" y="1134110"/>
                    <a:pt x="567055" y="1134110"/>
                  </a:cubicBezTo>
                  <a:cubicBezTo>
                    <a:pt x="253873" y="1134110"/>
                    <a:pt x="0" y="880237"/>
                    <a:pt x="0" y="567055"/>
                  </a:cubicBezTo>
                  <a:close/>
                </a:path>
              </a:pathLst>
            </a:custGeom>
            <a:solidFill>
              <a:srgbClr val="8C98CA"/>
            </a:solidFill>
            <a:ln w="12700">
              <a:solidFill>
                <a:srgbClr val="000000"/>
              </a:solidFill>
            </a:ln>
          </p:spPr>
        </p:sp>
      </p:grpSp>
      <p:sp>
        <p:nvSpPr>
          <p:cNvPr id="24" name="TextBox 24"/>
          <p:cNvSpPr txBox="1"/>
          <p:nvPr/>
        </p:nvSpPr>
        <p:spPr>
          <a:xfrm>
            <a:off x="8973664" y="4518422"/>
            <a:ext cx="340223" cy="529981"/>
          </a:xfrm>
          <a:prstGeom prst="rect">
            <a:avLst/>
          </a:prstGeom>
        </p:spPr>
        <p:txBody>
          <a:bodyPr lIns="0" tIns="0" rIns="0" bIns="0" rtlCol="0" anchor="t">
            <a:spAutoFit/>
          </a:bodyPr>
          <a:lstStyle/>
          <a:p>
            <a:pPr algn="l">
              <a:lnSpc>
                <a:spcPts val="4250"/>
              </a:lnSpc>
            </a:pPr>
            <a:r>
              <a:rPr lang="en-US" sz="2625">
                <a:solidFill>
                  <a:srgbClr val="000000"/>
                </a:solidFill>
                <a:latin typeface="Fraunces"/>
                <a:ea typeface="Fraunces"/>
                <a:cs typeface="Fraunces"/>
                <a:sym typeface="Fraunces"/>
              </a:rPr>
              <a:t>2</a:t>
            </a:r>
          </a:p>
        </p:txBody>
      </p:sp>
      <p:sp>
        <p:nvSpPr>
          <p:cNvPr id="25" name="TextBox 25"/>
          <p:cNvSpPr txBox="1"/>
          <p:nvPr/>
        </p:nvSpPr>
        <p:spPr>
          <a:xfrm>
            <a:off x="6842817" y="5534920"/>
            <a:ext cx="4602213" cy="895350"/>
          </a:xfrm>
          <a:prstGeom prst="rect">
            <a:avLst/>
          </a:prstGeom>
        </p:spPr>
        <p:txBody>
          <a:bodyPr lIns="0" tIns="0" rIns="0" bIns="0" rtlCol="0" anchor="t">
            <a:spAutoFit/>
          </a:bodyPr>
          <a:lstStyle/>
          <a:p>
            <a:pPr algn="l">
              <a:lnSpc>
                <a:spcPts val="3437"/>
              </a:lnSpc>
            </a:pPr>
            <a:r>
              <a:rPr lang="en-US" sz="2750">
                <a:solidFill>
                  <a:srgbClr val="EBECEF"/>
                </a:solidFill>
                <a:latin typeface="Fraunces"/>
                <a:ea typeface="Fraunces"/>
                <a:cs typeface="Fraunces"/>
                <a:sym typeface="Fraunces"/>
              </a:rPr>
              <a:t>Extension to printer and copier identification</a:t>
            </a:r>
          </a:p>
        </p:txBody>
      </p:sp>
      <p:grpSp>
        <p:nvGrpSpPr>
          <p:cNvPr id="26" name="Group 26"/>
          <p:cNvGrpSpPr/>
          <p:nvPr/>
        </p:nvGrpSpPr>
        <p:grpSpPr>
          <a:xfrm>
            <a:off x="12050163" y="4835728"/>
            <a:ext cx="5245446" cy="1916163"/>
            <a:chOff x="0" y="0"/>
            <a:chExt cx="6993928" cy="2554884"/>
          </a:xfrm>
        </p:grpSpPr>
        <p:sp>
          <p:nvSpPr>
            <p:cNvPr id="27" name="Freeform 27"/>
            <p:cNvSpPr/>
            <p:nvPr/>
          </p:nvSpPr>
          <p:spPr>
            <a:xfrm>
              <a:off x="0" y="0"/>
              <a:ext cx="6993890" cy="2554859"/>
            </a:xfrm>
            <a:custGeom>
              <a:avLst/>
              <a:gdLst/>
              <a:ahLst/>
              <a:cxnLst/>
              <a:rect l="l" t="t" r="r" b="b"/>
              <a:pathLst>
                <a:path w="6993890" h="2554859">
                  <a:moveTo>
                    <a:pt x="0" y="243840"/>
                  </a:moveTo>
                  <a:cubicBezTo>
                    <a:pt x="0" y="109220"/>
                    <a:pt x="109220" y="0"/>
                    <a:pt x="243840" y="0"/>
                  </a:cubicBezTo>
                  <a:lnTo>
                    <a:pt x="6750050" y="0"/>
                  </a:lnTo>
                  <a:cubicBezTo>
                    <a:pt x="6884670" y="0"/>
                    <a:pt x="6993890" y="109220"/>
                    <a:pt x="6993890" y="243840"/>
                  </a:cubicBezTo>
                  <a:lnTo>
                    <a:pt x="6993890" y="2311019"/>
                  </a:lnTo>
                  <a:cubicBezTo>
                    <a:pt x="6993890" y="2445639"/>
                    <a:pt x="6884670" y="2554859"/>
                    <a:pt x="6750050" y="2554859"/>
                  </a:cubicBezTo>
                  <a:lnTo>
                    <a:pt x="243840" y="2554859"/>
                  </a:lnTo>
                  <a:cubicBezTo>
                    <a:pt x="109220" y="2554859"/>
                    <a:pt x="0" y="2445639"/>
                    <a:pt x="0" y="2311019"/>
                  </a:cubicBezTo>
                  <a:close/>
                </a:path>
              </a:pathLst>
            </a:custGeom>
            <a:solidFill>
              <a:srgbClr val="080E26"/>
            </a:solidFill>
            <a:ln w="12700">
              <a:solidFill>
                <a:srgbClr val="000000"/>
              </a:solidFill>
            </a:ln>
          </p:spPr>
        </p:sp>
      </p:grpSp>
      <p:grpSp>
        <p:nvGrpSpPr>
          <p:cNvPr id="28" name="Group 28"/>
          <p:cNvGrpSpPr/>
          <p:nvPr/>
        </p:nvGrpSpPr>
        <p:grpSpPr>
          <a:xfrm>
            <a:off x="12050163" y="4797628"/>
            <a:ext cx="5245446" cy="152400"/>
            <a:chOff x="0" y="0"/>
            <a:chExt cx="6993928" cy="203200"/>
          </a:xfrm>
        </p:grpSpPr>
        <p:sp>
          <p:nvSpPr>
            <p:cNvPr id="29" name="Freeform 29"/>
            <p:cNvSpPr/>
            <p:nvPr/>
          </p:nvSpPr>
          <p:spPr>
            <a:xfrm>
              <a:off x="0" y="0"/>
              <a:ext cx="6993890" cy="203200"/>
            </a:xfrm>
            <a:custGeom>
              <a:avLst/>
              <a:gdLst/>
              <a:ahLst/>
              <a:cxnLst/>
              <a:rect l="l" t="t" r="r" b="b"/>
              <a:pathLst>
                <a:path w="6993890" h="203200">
                  <a:moveTo>
                    <a:pt x="0" y="101600"/>
                  </a:moveTo>
                  <a:cubicBezTo>
                    <a:pt x="0" y="45466"/>
                    <a:pt x="45466" y="0"/>
                    <a:pt x="101600" y="0"/>
                  </a:cubicBezTo>
                  <a:lnTo>
                    <a:pt x="6892290" y="0"/>
                  </a:lnTo>
                  <a:cubicBezTo>
                    <a:pt x="6948424" y="0"/>
                    <a:pt x="6993890" y="45466"/>
                    <a:pt x="6993890" y="101600"/>
                  </a:cubicBezTo>
                  <a:cubicBezTo>
                    <a:pt x="6993890" y="157734"/>
                    <a:pt x="6948424" y="203200"/>
                    <a:pt x="6892290" y="203200"/>
                  </a:cubicBezTo>
                  <a:lnTo>
                    <a:pt x="101600" y="203200"/>
                  </a:lnTo>
                  <a:cubicBezTo>
                    <a:pt x="45466" y="203200"/>
                    <a:pt x="0" y="157734"/>
                    <a:pt x="0" y="101600"/>
                  </a:cubicBezTo>
                  <a:close/>
                </a:path>
              </a:pathLst>
            </a:custGeom>
            <a:solidFill>
              <a:srgbClr val="8C98CA"/>
            </a:solidFill>
            <a:ln w="12700">
              <a:solidFill>
                <a:srgbClr val="000000"/>
              </a:solidFill>
            </a:ln>
          </p:spPr>
        </p:sp>
      </p:grpSp>
      <p:grpSp>
        <p:nvGrpSpPr>
          <p:cNvPr id="30" name="Group 30"/>
          <p:cNvGrpSpPr/>
          <p:nvPr/>
        </p:nvGrpSpPr>
        <p:grpSpPr>
          <a:xfrm>
            <a:off x="14247543" y="4410523"/>
            <a:ext cx="850554" cy="850554"/>
            <a:chOff x="0" y="0"/>
            <a:chExt cx="1134072" cy="1134072"/>
          </a:xfrm>
        </p:grpSpPr>
        <p:sp>
          <p:nvSpPr>
            <p:cNvPr id="31" name="Freeform 31"/>
            <p:cNvSpPr/>
            <p:nvPr/>
          </p:nvSpPr>
          <p:spPr>
            <a:xfrm>
              <a:off x="0" y="0"/>
              <a:ext cx="1134110" cy="1134110"/>
            </a:xfrm>
            <a:custGeom>
              <a:avLst/>
              <a:gdLst/>
              <a:ahLst/>
              <a:cxnLst/>
              <a:rect l="l" t="t" r="r" b="b"/>
              <a:pathLst>
                <a:path w="1134110" h="1134110">
                  <a:moveTo>
                    <a:pt x="0" y="567055"/>
                  </a:moveTo>
                  <a:cubicBezTo>
                    <a:pt x="0" y="253873"/>
                    <a:pt x="253873" y="0"/>
                    <a:pt x="567055" y="0"/>
                  </a:cubicBezTo>
                  <a:cubicBezTo>
                    <a:pt x="880237" y="0"/>
                    <a:pt x="1134110" y="253873"/>
                    <a:pt x="1134110" y="567055"/>
                  </a:cubicBezTo>
                  <a:cubicBezTo>
                    <a:pt x="1134110" y="880237"/>
                    <a:pt x="880237" y="1134110"/>
                    <a:pt x="567055" y="1134110"/>
                  </a:cubicBezTo>
                  <a:cubicBezTo>
                    <a:pt x="253873" y="1134110"/>
                    <a:pt x="0" y="880237"/>
                    <a:pt x="0" y="567055"/>
                  </a:cubicBezTo>
                  <a:close/>
                </a:path>
              </a:pathLst>
            </a:custGeom>
            <a:solidFill>
              <a:srgbClr val="8C98CA"/>
            </a:solidFill>
            <a:ln w="12700">
              <a:solidFill>
                <a:srgbClr val="000000"/>
              </a:solidFill>
            </a:ln>
          </p:spPr>
        </p:sp>
      </p:grpSp>
      <p:sp>
        <p:nvSpPr>
          <p:cNvPr id="32" name="TextBox 32"/>
          <p:cNvSpPr txBox="1"/>
          <p:nvPr/>
        </p:nvSpPr>
        <p:spPr>
          <a:xfrm>
            <a:off x="14502632" y="4518422"/>
            <a:ext cx="340223" cy="529981"/>
          </a:xfrm>
          <a:prstGeom prst="rect">
            <a:avLst/>
          </a:prstGeom>
        </p:spPr>
        <p:txBody>
          <a:bodyPr lIns="0" tIns="0" rIns="0" bIns="0" rtlCol="0" anchor="t">
            <a:spAutoFit/>
          </a:bodyPr>
          <a:lstStyle/>
          <a:p>
            <a:pPr algn="l">
              <a:lnSpc>
                <a:spcPts val="4250"/>
              </a:lnSpc>
            </a:pPr>
            <a:r>
              <a:rPr lang="en-US" sz="2625">
                <a:solidFill>
                  <a:srgbClr val="000000"/>
                </a:solidFill>
                <a:latin typeface="Fraunces"/>
                <a:ea typeface="Fraunces"/>
                <a:cs typeface="Fraunces"/>
                <a:sym typeface="Fraunces"/>
              </a:rPr>
              <a:t>3</a:t>
            </a:r>
          </a:p>
        </p:txBody>
      </p:sp>
      <p:sp>
        <p:nvSpPr>
          <p:cNvPr id="33" name="TextBox 33"/>
          <p:cNvSpPr txBox="1"/>
          <p:nvPr/>
        </p:nvSpPr>
        <p:spPr>
          <a:xfrm>
            <a:off x="12371784" y="5534920"/>
            <a:ext cx="4602213" cy="895350"/>
          </a:xfrm>
          <a:prstGeom prst="rect">
            <a:avLst/>
          </a:prstGeom>
        </p:spPr>
        <p:txBody>
          <a:bodyPr lIns="0" tIns="0" rIns="0" bIns="0" rtlCol="0" anchor="t">
            <a:spAutoFit/>
          </a:bodyPr>
          <a:lstStyle/>
          <a:p>
            <a:pPr algn="l">
              <a:lnSpc>
                <a:spcPts val="3437"/>
              </a:lnSpc>
            </a:pPr>
            <a:r>
              <a:rPr lang="en-US" sz="2750">
                <a:solidFill>
                  <a:srgbClr val="EBECEF"/>
                </a:solidFill>
                <a:latin typeface="Fraunces"/>
                <a:ea typeface="Fraunces"/>
                <a:cs typeface="Fraunces"/>
                <a:sym typeface="Fraunces"/>
              </a:rPr>
              <a:t>Cross-device generalization studies</a:t>
            </a:r>
          </a:p>
        </p:txBody>
      </p:sp>
      <p:sp>
        <p:nvSpPr>
          <p:cNvPr id="34" name="TextBox 34"/>
          <p:cNvSpPr txBox="1"/>
          <p:nvPr/>
        </p:nvSpPr>
        <p:spPr>
          <a:xfrm>
            <a:off x="992238" y="6966052"/>
            <a:ext cx="16303523" cy="558403"/>
          </a:xfrm>
          <a:prstGeom prst="rect">
            <a:avLst/>
          </a:prstGeom>
        </p:spPr>
        <p:txBody>
          <a:bodyPr lIns="0" tIns="0" rIns="0" bIns="0" rtlCol="0" anchor="t">
            <a:spAutoFit/>
          </a:bodyPr>
          <a:lstStyle/>
          <a:p>
            <a:pPr algn="l">
              <a:lnSpc>
                <a:spcPts val="3562"/>
              </a:lnSpc>
            </a:pPr>
            <a:r>
              <a:rPr lang="en-US" sz="2187">
                <a:solidFill>
                  <a:srgbClr val="EBECEF"/>
                </a:solidFill>
                <a:latin typeface="Arimo"/>
                <a:ea typeface="Arimo"/>
                <a:cs typeface="Arimo"/>
                <a:sym typeface="Arimo"/>
              </a:rPr>
              <a:t>Integration with document verification platforms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A8AFCC"/>
            </a:solidFill>
            <a:ln w="12700">
              <a:solidFill>
                <a:srgbClr val="000000"/>
              </a:solidFill>
            </a:ln>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80E26"/>
            </a:solidFill>
            <a:ln w="12700">
              <a:solidFill>
                <a:srgbClr val="000000"/>
              </a:solidFill>
            </a:ln>
          </p:spPr>
        </p:sp>
      </p:grpSp>
      <p:sp>
        <p:nvSpPr>
          <p:cNvPr id="6" name="TextBox 6"/>
          <p:cNvSpPr txBox="1"/>
          <p:nvPr/>
        </p:nvSpPr>
        <p:spPr>
          <a:xfrm>
            <a:off x="992238" y="2120656"/>
            <a:ext cx="7826426" cy="905027"/>
          </a:xfrm>
          <a:prstGeom prst="rect">
            <a:avLst/>
          </a:prstGeom>
        </p:spPr>
        <p:txBody>
          <a:bodyPr lIns="0" tIns="0" rIns="0" bIns="0" rtlCol="0" anchor="t">
            <a:spAutoFit/>
          </a:bodyPr>
          <a:lstStyle/>
          <a:p>
            <a:pPr algn="l">
              <a:lnSpc>
                <a:spcPts val="6937"/>
              </a:lnSpc>
            </a:pPr>
            <a:r>
              <a:rPr lang="en-US" sz="5562" b="1" dirty="0">
                <a:solidFill>
                  <a:srgbClr val="FFFFFF"/>
                </a:solidFill>
                <a:latin typeface="Fraunces Bold"/>
                <a:ea typeface="Fraunces Bold"/>
                <a:cs typeface="Fraunces Bold"/>
                <a:sym typeface="Fraunces Bold"/>
              </a:rPr>
              <a:t>Future Enhancements</a:t>
            </a:r>
          </a:p>
        </p:txBody>
      </p:sp>
      <p:sp>
        <p:nvSpPr>
          <p:cNvPr id="7" name="TextBox 7"/>
          <p:cNvSpPr txBox="1"/>
          <p:nvPr/>
        </p:nvSpPr>
        <p:spPr>
          <a:xfrm>
            <a:off x="992238" y="3993204"/>
            <a:ext cx="16303523" cy="558403"/>
          </a:xfrm>
          <a:prstGeom prst="rect">
            <a:avLst/>
          </a:prstGeom>
        </p:spPr>
        <p:txBody>
          <a:bodyPr lIns="0" tIns="0" rIns="0" bIns="0" rtlCol="0" anchor="t">
            <a:spAutoFit/>
          </a:bodyPr>
          <a:lstStyle/>
          <a:p>
            <a:pPr algn="l">
              <a:lnSpc>
                <a:spcPts val="3562"/>
              </a:lnSpc>
            </a:pPr>
            <a:r>
              <a:rPr lang="en-US" sz="2187">
                <a:solidFill>
                  <a:srgbClr val="EBECEF"/>
                </a:solidFill>
                <a:latin typeface="Arimo"/>
                <a:ea typeface="Arimo"/>
                <a:cs typeface="Arimo"/>
                <a:sym typeface="Arimo"/>
              </a:rPr>
              <a:t>• Cloud deployment using AWS / GCP</a:t>
            </a:r>
          </a:p>
        </p:txBody>
      </p:sp>
      <p:sp>
        <p:nvSpPr>
          <p:cNvPr id="8" name="TextBox 8"/>
          <p:cNvSpPr txBox="1"/>
          <p:nvPr/>
        </p:nvSpPr>
        <p:spPr>
          <a:xfrm>
            <a:off x="992238" y="4765777"/>
            <a:ext cx="16303523" cy="558403"/>
          </a:xfrm>
          <a:prstGeom prst="rect">
            <a:avLst/>
          </a:prstGeom>
        </p:spPr>
        <p:txBody>
          <a:bodyPr lIns="0" tIns="0" rIns="0" bIns="0" rtlCol="0" anchor="t">
            <a:spAutoFit/>
          </a:bodyPr>
          <a:lstStyle/>
          <a:p>
            <a:pPr algn="l">
              <a:lnSpc>
                <a:spcPts val="3562"/>
              </a:lnSpc>
            </a:pPr>
            <a:r>
              <a:rPr lang="en-US" sz="2187">
                <a:solidFill>
                  <a:srgbClr val="EBECEF"/>
                </a:solidFill>
                <a:latin typeface="Arimo"/>
                <a:ea typeface="Arimo"/>
                <a:cs typeface="Arimo"/>
                <a:sym typeface="Arimo"/>
              </a:rPr>
              <a:t>• REST API integration using FastAPI</a:t>
            </a:r>
          </a:p>
        </p:txBody>
      </p:sp>
      <p:sp>
        <p:nvSpPr>
          <p:cNvPr id="9" name="TextBox 9"/>
          <p:cNvSpPr txBox="1"/>
          <p:nvPr/>
        </p:nvSpPr>
        <p:spPr>
          <a:xfrm>
            <a:off x="992238" y="5538340"/>
            <a:ext cx="16303523" cy="558403"/>
          </a:xfrm>
          <a:prstGeom prst="rect">
            <a:avLst/>
          </a:prstGeom>
        </p:spPr>
        <p:txBody>
          <a:bodyPr lIns="0" tIns="0" rIns="0" bIns="0" rtlCol="0" anchor="t">
            <a:spAutoFit/>
          </a:bodyPr>
          <a:lstStyle/>
          <a:p>
            <a:pPr algn="l">
              <a:lnSpc>
                <a:spcPts val="3562"/>
              </a:lnSpc>
            </a:pPr>
            <a:r>
              <a:rPr lang="en-US" sz="2187">
                <a:solidFill>
                  <a:srgbClr val="EBECEF"/>
                </a:solidFill>
                <a:latin typeface="Arimo"/>
                <a:ea typeface="Arimo"/>
                <a:cs typeface="Arimo"/>
                <a:sym typeface="Arimo"/>
              </a:rPr>
              <a:t>• Multi-scanner and brand-level classification</a:t>
            </a:r>
          </a:p>
        </p:txBody>
      </p:sp>
      <p:sp>
        <p:nvSpPr>
          <p:cNvPr id="10" name="TextBox 10"/>
          <p:cNvSpPr txBox="1"/>
          <p:nvPr/>
        </p:nvSpPr>
        <p:spPr>
          <a:xfrm>
            <a:off x="992238" y="6310903"/>
            <a:ext cx="16303523" cy="558403"/>
          </a:xfrm>
          <a:prstGeom prst="rect">
            <a:avLst/>
          </a:prstGeom>
        </p:spPr>
        <p:txBody>
          <a:bodyPr lIns="0" tIns="0" rIns="0" bIns="0" rtlCol="0" anchor="t">
            <a:spAutoFit/>
          </a:bodyPr>
          <a:lstStyle/>
          <a:p>
            <a:pPr algn="l">
              <a:lnSpc>
                <a:spcPts val="3562"/>
              </a:lnSpc>
            </a:pPr>
            <a:r>
              <a:rPr lang="en-US" sz="2187">
                <a:solidFill>
                  <a:srgbClr val="EBECEF"/>
                </a:solidFill>
                <a:latin typeface="Arimo"/>
                <a:ea typeface="Arimo"/>
                <a:cs typeface="Arimo"/>
                <a:sym typeface="Arimo"/>
              </a:rPr>
              <a:t>• Explainability using Grad-CAM visualization</a:t>
            </a:r>
          </a:p>
        </p:txBody>
      </p:sp>
      <p:sp>
        <p:nvSpPr>
          <p:cNvPr id="11" name="TextBox 11"/>
          <p:cNvSpPr txBox="1"/>
          <p:nvPr/>
        </p:nvSpPr>
        <p:spPr>
          <a:xfrm>
            <a:off x="992238" y="7083476"/>
            <a:ext cx="16303523" cy="558403"/>
          </a:xfrm>
          <a:prstGeom prst="rect">
            <a:avLst/>
          </a:prstGeom>
        </p:spPr>
        <p:txBody>
          <a:bodyPr lIns="0" tIns="0" rIns="0" bIns="0" rtlCol="0" anchor="t">
            <a:spAutoFit/>
          </a:bodyPr>
          <a:lstStyle/>
          <a:p>
            <a:pPr algn="l">
              <a:lnSpc>
                <a:spcPts val="3562"/>
              </a:lnSpc>
            </a:pPr>
            <a:r>
              <a:rPr lang="en-US" sz="2187">
                <a:solidFill>
                  <a:srgbClr val="EBECEF"/>
                </a:solidFill>
                <a:latin typeface="Arimo"/>
                <a:ea typeface="Arimo"/>
                <a:cs typeface="Arimo"/>
                <a:sym typeface="Arimo"/>
              </a:rPr>
              <a:t>• Secure user authentication and access control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A8AFCC"/>
            </a:solidFill>
            <a:ln w="12700">
              <a:solidFill>
                <a:srgbClr val="000000"/>
              </a:solidFill>
            </a:ln>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80E26"/>
            </a:solidFill>
            <a:ln w="12700">
              <a:solidFill>
                <a:srgbClr val="000000"/>
              </a:solidFill>
            </a:ln>
          </p:spPr>
        </p:sp>
      </p:grpSp>
      <p:sp>
        <p:nvSpPr>
          <p:cNvPr id="6" name="Freeform 6" descr="preencoded.png"/>
          <p:cNvSpPr/>
          <p:nvPr/>
        </p:nvSpPr>
        <p:spPr>
          <a:xfrm>
            <a:off x="11430000" y="0"/>
            <a:ext cx="6858000" cy="10287000"/>
          </a:xfrm>
          <a:custGeom>
            <a:avLst/>
            <a:gdLst/>
            <a:ahLst/>
            <a:cxnLst/>
            <a:rect l="l" t="t" r="r" b="b"/>
            <a:pathLst>
              <a:path w="6858000" h="10287000">
                <a:moveTo>
                  <a:pt x="0" y="0"/>
                </a:moveTo>
                <a:lnTo>
                  <a:pt x="6858000" y="0"/>
                </a:lnTo>
                <a:lnTo>
                  <a:pt x="6858000" y="10287000"/>
                </a:lnTo>
                <a:lnTo>
                  <a:pt x="0" y="10287000"/>
                </a:lnTo>
                <a:lnTo>
                  <a:pt x="0" y="0"/>
                </a:lnTo>
                <a:close/>
              </a:path>
            </a:pathLst>
          </a:custGeom>
          <a:blipFill>
            <a:blip r:embed="rId3"/>
            <a:stretch>
              <a:fillRect/>
            </a:stretch>
          </a:blipFill>
        </p:spPr>
      </p:sp>
      <p:sp>
        <p:nvSpPr>
          <p:cNvPr id="7" name="TextBox 7"/>
          <p:cNvSpPr txBox="1"/>
          <p:nvPr/>
        </p:nvSpPr>
        <p:spPr>
          <a:xfrm>
            <a:off x="992238" y="2409234"/>
            <a:ext cx="9445523" cy="5392341"/>
          </a:xfrm>
          <a:prstGeom prst="rect">
            <a:avLst/>
          </a:prstGeom>
        </p:spPr>
        <p:txBody>
          <a:bodyPr lIns="0" tIns="0" rIns="0" bIns="0" rtlCol="0" anchor="t">
            <a:spAutoFit/>
          </a:bodyPr>
          <a:lstStyle/>
          <a:p>
            <a:pPr algn="l">
              <a:lnSpc>
                <a:spcPts val="20875"/>
              </a:lnSpc>
            </a:pPr>
            <a:r>
              <a:rPr lang="en-US" sz="16687">
                <a:solidFill>
                  <a:srgbClr val="FFFFFF"/>
                </a:solidFill>
                <a:latin typeface="Fraunces"/>
                <a:ea typeface="Fraunces"/>
                <a:cs typeface="Fraunces"/>
                <a:sym typeface="Fraunce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655</Words>
  <Application>Microsoft Office PowerPoint</Application>
  <PresentationFormat>Custom</PresentationFormat>
  <Paragraphs>141</Paragraphs>
  <Slides>16</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Fraunces</vt:lpstr>
      <vt:lpstr>Arimo Bold</vt:lpstr>
      <vt:lpstr>Arimo</vt:lpstr>
      <vt:lpstr>Calibri</vt:lpstr>
      <vt:lpstr>Arial</vt:lpstr>
      <vt:lpstr>Fraunces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Scanner-Device-Identification-Using-Document-Images (1).pptx</dc:title>
  <cp:lastModifiedBy>Pratik Ekashinge</cp:lastModifiedBy>
  <cp:revision>3</cp:revision>
  <dcterms:created xsi:type="dcterms:W3CDTF">2006-08-16T00:00:00Z</dcterms:created>
  <dcterms:modified xsi:type="dcterms:W3CDTF">2026-01-22T13:41:39Z</dcterms:modified>
  <dc:identifier>DAG_DoWjsSI</dc:identifier>
</cp:coreProperties>
</file>